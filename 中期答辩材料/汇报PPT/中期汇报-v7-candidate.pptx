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2" r:id="rId13"/>
    <p:sldId id="265" r:id="rId16"/>
    <p:sldId id="261" r:id="rId12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63247"/>
          </a:solidFill>
          <a:ln w="12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46520" y="1325880"/>
            <a:ext cx="5074920" cy="4160520"/>
          </a:xfrm>
          <a:prstGeom prst="roundRect">
            <a:avLst/>
          </a:prstGeom>
          <a:solidFill>
            <a:srgbClr val="1D4053"/>
          </a:solidFill>
          <a:ln w="12700">
            <a:solidFill>
              <a:srgbClr val="41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20840" y="1645920"/>
            <a:ext cx="2148840" cy="109728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课界授权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课程成员范围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未授权拒绝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645920"/>
            <a:ext cx="21031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证据引用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回答附依据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可回原页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15400" y="2194560"/>
            <a:ext cx="182880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20840" y="3017520"/>
            <a:ext cx="2148840" cy="109728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可信闭环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问 → 答 → 依据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回 PDF 核对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017520"/>
            <a:ext cx="21031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教学反馈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资料与问题线索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非成绩画像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43400"/>
            <a:ext cx="2926080" cy="86868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734E"/>
                </a:solidFill>
                <a:latin typeface="Microsoft YaHei"/>
              </a:rPr>
              <a:t>演示基线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4 课 · 27 PDF · 2,501 切片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440680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D8E7EE"/>
                </a:solidFill>
                <a:latin typeface="Microsoft YaHei"/>
              </a:rPr>
              <a:t>有依据、可核对的课程问答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5120640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课程知识库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问答与反馈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108960"/>
            <a:ext cx="822960" cy="54864"/>
          </a:xfrm>
          <a:prstGeom prst="rect">
            <a:avLst/>
          </a:prstGeom>
          <a:solidFill>
            <a:srgbClr val="D39A37"/>
          </a:solidFill>
          <a:ln w="12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83280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2F6"/>
                </a:solidFill>
                <a:latin typeface="Microsoft YaHei"/>
              </a:rPr>
              <a:t>中期交付：可信问答闭环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77639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3E1E8"/>
                </a:solidFill>
                <a:latin typeface="Microsoft YaHei"/>
              </a:rPr>
              <a:t>知识库智能问答与教学反馈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12080"/>
            <a:ext cx="5029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39A37"/>
                </a:solidFill>
                <a:latin typeface="Microsoft YaHei"/>
              </a:rPr>
              <a:t>问 → 答 → 依据 → 回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852160"/>
            <a:ext cx="5029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3E1E8"/>
                </a:solidFill>
                <a:latin typeface="Microsoft YaHei"/>
              </a:rPr>
              <a:t>中期汇报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问题与边界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课界授权；非搜题与考试作弊辅助；非成绩或能力画像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7"/>
                </a:solidFill>
                <a:latin typeface="Microsoft YaHei"/>
              </a:rPr>
              <a:t>明确边界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回答仅在课程授权范围内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不是搜题或考试作弊工具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不做学生成绩或能力画像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通用模型流畅 ≠ 课内有据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多课程必须守住访问边界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缺少来源或偏离课界时应拒答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41605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要解决的问题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有依据、可核对的课程问答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提问后给出答案与引用摘录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支持打开 PDF 对应页核对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依据不足时正确提示并停止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教师侧提供资料与问题线索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中期交付：可信问答闭环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715000"/>
            <a:ext cx="11018520" cy="50292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10698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核心：在课界授权下，提供有依据、可核对的课程问答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系统闭环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提问 → 回答 → 证据/引用 → 打开 PDF 对应页；访问均在课程授权范围内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057400" cy="219456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① 提问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学生提出问题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课程授权范围内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246888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417320"/>
            <a:ext cx="20574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② 回答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证据约束生成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有据或依据不足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28031" y="2468880"/>
            <a:ext cx="128017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1417320"/>
            <a:ext cx="2057400" cy="219456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③ 证据/引用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引用摘录可核对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来源信息保留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14031" y="2468880"/>
            <a:ext cx="128017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1417320"/>
            <a:ext cx="20574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④ 打开 PDF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定位对应页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原文核验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00032" y="246888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1417320"/>
            <a:ext cx="2057400" cy="219456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734E"/>
                </a:solidFill>
                <a:latin typeface="Microsoft YaHei"/>
              </a:rPr>
              <a:t>⑤ 权限边界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课程成员授权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贯穿检索与访问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676656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架构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3911"/>
            <a:ext cx="6492240" cy="20534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52360" y="3840480"/>
            <a:ext cx="4114800" cy="224028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权限与角色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管理员：账号 / 课程 / 授权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教师：资料状态 + 基础反馈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学生：提问 → 引用 → 回原页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检索与原文件访问均守课界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演示语料：四课中文知识库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cn_v2 · 解析、切分与索引；课程级权限贯穿检索与原文件访问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30936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m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" y="1508760"/>
            <a:ext cx="5793638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77840"/>
            <a:ext cx="60350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界面示意：课程级权限路径（非语料清单）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371600"/>
            <a:ext cx="452628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语料与处理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演示基线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中文四课 PDF 知识库（cn_v2）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规模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4 门课 · 27 份 PDF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2,501 个文本切片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univ_course_rag_cn_v2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处理路径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上传、解析、切分及索引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本次基线以 PDF 为主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课程级权限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检索与原文件访问守课界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其他格式效果后续验证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失败语义与权限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有据 ≠ 依据不足 ≠ 系统故障 ≠ 权限拒绝；COVERAGE_INCOMPLETE 为资料级警告，≠整份失败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33172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734E"/>
                </a:solidFill>
                <a:latin typeface="Microsoft YaHei"/>
              </a:rPr>
              <a:t>有据回答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课内有证据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附引用可回页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例：LA-01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97480" cy="23317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39A37"/>
                </a:solidFill>
                <a:latin typeface="Microsoft YaHei"/>
              </a:rPr>
              <a:t>依据不足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无足够课内依据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正确提示并停止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例：LA-R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97480" cy="23317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84242"/>
                </a:solidFill>
                <a:latin typeface="Microsoft YaHei"/>
              </a:rPr>
              <a:t>系统故障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服务或上游异常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可重试，非拒答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文案不同于依据不足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697480" cy="233172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权限拒绝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未授权课程访问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无权限拒答演示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PERM 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4864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82" y="3977639"/>
            <a:ext cx="2567635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39A37"/>
                </a:solidFill>
                <a:latin typeface="Microsoft YaHei"/>
              </a:rPr>
              <a:t>依据不足提示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86200"/>
            <a:ext cx="54864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ys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62" y="3977639"/>
            <a:ext cx="2567635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5806440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84242"/>
                </a:solidFill>
                <a:latin typeface="Microsoft YaHei"/>
              </a:rPr>
              <a:t>系统故障（可重试）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分层核验指标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事实要点 / 引用支持 / 页命中 · 22 题开发者核验 · 不可外推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99032"/>
            <a:ext cx="208483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247D78"/>
                </a:solidFill>
                <a:latin typeface="Microsoft YaHei"/>
              </a:rPr>
              <a:t>15/17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56231"/>
            <a:ext cx="208483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事实要点 Dense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25880"/>
            <a:ext cx="233172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399032"/>
            <a:ext cx="222199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39A37"/>
                </a:solidFill>
                <a:latin typeface="Microsoft YaHei"/>
              </a:rPr>
              <a:t>16/16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856231"/>
            <a:ext cx="22219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引用支持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已回答应答题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399032"/>
            <a:ext cx="208483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63247"/>
                </a:solidFill>
                <a:latin typeface="Microsoft YaHei"/>
              </a:rPr>
              <a:t>12/16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1856231"/>
            <a:ext cx="208483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严格预期页命中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25880"/>
            <a:ext cx="20574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1399032"/>
            <a:ext cx="194767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247D78"/>
                </a:solidFill>
                <a:latin typeface="Microsoft YaHei"/>
              </a:rPr>
              <a:t>22 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856231"/>
            <a:ext cx="194767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开发者核验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325880"/>
            <a:ext cx="1874519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8944" y="1399032"/>
            <a:ext cx="176479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39A37"/>
                </a:solidFill>
                <a:latin typeface="Microsoft YaHei"/>
              </a:rPr>
              <a:t>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1856231"/>
            <a:ext cx="17647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课外正确拒答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731520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22 题 Dense / Hybrid（开发者核验）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全部应答题中的事实要点通过率　15/17　/　16/17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已回答应答题中的事实要点通过率　15/16　/　16/16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已回答应答题中的引用支持通过率　16/16　/　16/16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严格预期页命中　　　　　　　　12/16　/　12/16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明显课外问题的正确拒答　　　　5/5　　/　5/5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页命中反映来源定位，≠ 引用错误率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开发者核验，不可外推；不得宣称 Hybrid 显著更优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431 个 Keyword-only 候选未进最终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468880"/>
            <a:ext cx="3703320" cy="32461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4242"/>
                </a:solidFill>
                <a:latin typeface="Microsoft YaHei"/>
              </a:rPr>
              <a:t>需留意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PROB-F02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应答题本轮未给出答案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Dense 与 Hybrid 均未答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页命中与引用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引用支持 16/16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页命中 12/16（口径待复核）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评价边界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非独立评测、不可外推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演示备忘：固定问句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LA-01 有据 → 回原页 → LA-R 依据不足 → PERM 权限拒答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194560" cy="214884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47D78"/>
                </a:solidFill>
                <a:latin typeface="Microsoft YaHei"/>
              </a:rPr>
              <a:t>1 提问 LA-01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课内可检索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生成有据回答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371600"/>
            <a:ext cx="21945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2 看引用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来源可核对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摘录与页码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371600"/>
            <a:ext cx="2194560" cy="214884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39A37"/>
                </a:solidFill>
                <a:latin typeface="Microsoft YaHei"/>
              </a:rPr>
              <a:t>3 开 PDF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打开对应页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原文核验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371600"/>
            <a:ext cx="21945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4 LA-R 拒答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依据不足停止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不编造答案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1948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59" y="1371600"/>
            <a:ext cx="2194560" cy="214884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734E"/>
                </a:solidFill>
                <a:latin typeface="Microsoft YaHei"/>
              </a:rPr>
              <a:t>5 PERM 权限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未授权拒答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区别于系统故障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120140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口播要点（固定问句）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1069848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LA-01：根据线性代数讲义，线性代数主要研究哪两类对象？ → 有回答与引用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LA-R：根据线性代数讲义，如何用 SQL 创建数据库表并插入数据？ → 依据不足，不编造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PERM：未加入课程 → 无权限拒答｜系统故障：可重试，文案不同于依据不足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演示前确认：已登录授权课程；PERM 与故障路径单独准备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局限与后续三阶段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先可靠、再验证、后扩展；不承诺公网部署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57600" cy="32461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84242"/>
                </a:solidFill>
                <a:latin typeface="Microsoft YaHei"/>
              </a:rPr>
              <a:t>① 可靠与证据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资料生命周期与权限边界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引用定位与异常恢复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页码映射与应答失败分析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候选准入与回归测试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COVERAGE 页级诊断完善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先可靠，再扩展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57600" cy="32461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② 学情分析 V1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问题分组候选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教师确认知识点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处理记录与代表问题回归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描述性统计升级为闭环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非成绩或能力画像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小规模任务试用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5204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③ 核验·性能·结题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独立核验代表题目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流式响应与性能基线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取消/超时与并发隔离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干净环境安装与恢复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结题交付；不承诺公网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01400" cy="123444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中期：四课本机可演示——课界贯穿、证据可回原页、失败可区分、评测可分层。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后续按三阶段推进；22 题不可外推；不承诺公网部署。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Dense 与 Hybrid 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同题集真实模型对照；不得宣称 Hybrid 显著优于 Dense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7"/>
                </a:solidFill>
                <a:latin typeface="Microsoft YaHei"/>
              </a:rPr>
              <a:t>Dense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向量检索（Dense）路径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22 题真实模型测试之一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全部应答题事实要点 15/17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引用支持（已回答）16/16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严格预期页命中 12/16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课外正确拒答 5/5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41605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Hybrid（对照）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Dense + 关键词检索融合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同题集 22 题对照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全部应答题事实要点 16/17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引用支持（已回答）16/16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严格预期页命中 12/16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Keyword-only 未进最终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715000"/>
            <a:ext cx="11018520" cy="50292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10698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对照已完成；本轮不宣称 Hybrid 显著更优；Rerank 与 cosine 0.45 门槛仍待评估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高校课程知识库智能问答：中期汇报候选稿 v6</dc:title>
  <dc:subject>技术亮点、分层评测、失败语义、演示路径</dc:subject>
  <dc:creator>项目组</dc:creator>
  <cp:keywords>RAG, 课程知识库, 引用, 中期, 候选稿 v6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