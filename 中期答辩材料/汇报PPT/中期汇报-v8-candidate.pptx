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  <a:p>
            <a:r>
              <a:t>截图：中期答辩材料/彩排截图/04-学生-引用打开PDF.png。原图等比嵌入。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  <a:p>
            <a:r>
              <a:t>截图：中期答辩材料/彩排截图/03-学生-线代作答与引用.png。原图等比嵌入。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  <a:p>
            <a:r>
              <a:t>截图：中期答辩材料/彩排截图/10-PERM-无权限.png。以 PowerPoint 原生裁切突出相关界面，原图完整嵌入，可恢复裁切。</a:t>
            </a:r>
          </a:p>
          <a:p>
            <a:r>
              <a:t>截图：中期答辩材料/彩排截图/05-学生-拒答.png。以 PowerPoint 原生裁切突出相关界面，原图完整嵌入，可恢复裁切。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页结构与标题：中期答辩材料/汇报PPT/v8-outline.md</a:t>
            </a:r>
          </a:p>
          <a:p>
            <a:r>
              <a:t>事实与数字来源：中期答辩材料/中期报告-修订稿.md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大学生创新训练计划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168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44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课程知识库 · 有据问答，</a:t>
            </a:r>
          </a:p>
          <a:p>
            <a:pPr>
              <a:lnSpc>
                <a:spcPct val="116000"/>
              </a:lnSpc>
              <a:spcAft>
                <a:spcPts val="800"/>
              </a:spcAft>
              <a:defRPr sz="44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通向教学反馈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95604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300" b="0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高校课程场景 · 可演示原型 · 分层核验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课内问答不可信，因为难核对来源与权限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84708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5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4708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6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答案常无法回到指定课程资料与页码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2752344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4088" y="3136392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5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13639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6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跨课与未授权访问难以拦截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041648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088" y="4425696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5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425696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6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非搜题工具，非成绩或教学质量画像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533095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我们把答案钉回原 PDF 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9344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300" b="0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问 → 课内检索 → 有据回答 → 引用摘录 → 打开原 PDF 页</a:t>
            </a:r>
          </a:p>
        </p:txBody>
      </p:sp>
      <p:pic>
        <p:nvPicPr>
          <p:cNvPr id="6" name="Picture 5" descr="04-学生-引用打开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326" y="2231136"/>
            <a:ext cx="5688299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中期已能演示四课有据问答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36776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7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4 门课 · 27 份 PDF · 2,501 个文本切片（cn_v2）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60604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2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课程级权限贯穿检索、</a:t>
            </a:r>
          </a:p>
          <a:p>
            <a:pPr>
              <a:lnSpc>
                <a:spcPct val="116000"/>
              </a:lnSpc>
              <a:spcAft>
                <a:spcPts val="800"/>
              </a:spcAft>
              <a:defRPr sz="22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问答与原文件访问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776472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2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依据不足与系统故障可区分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486460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2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核心演示路径已复核与彩排</a:t>
            </a:r>
          </a:p>
        </p:txBody>
      </p:sp>
      <p:pic>
        <p:nvPicPr>
          <p:cNvPr id="9" name="Picture 8" descr="03-学生-线代作答与引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804" y="2423160"/>
            <a:ext cx="5464454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验收看分层，不看「答得流畅」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19072"/>
            <a:ext cx="42976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78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15/17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975104"/>
            <a:ext cx="6812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5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全部应答题中的事实要点通过率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88336"/>
            <a:ext cx="6812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Dense；分母 17，未回答计失败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368503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069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5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事实要点     ·     引用支持     ·     严格预期页命中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486400"/>
            <a:ext cx="10744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15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本轮 22 题由项目开发者按既定规则核验；后续将邀请未参与开发者复核。</a:t>
            </a:r>
          </a:p>
          <a:p>
            <a:pPr>
              <a:lnSpc>
                <a:spcPct val="116000"/>
              </a:lnSpc>
              <a:spcAft>
                <a:spcPts val="800"/>
              </a:spcAft>
              <a:defRPr sz="15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严格页命中与引用支持分层呈现，页命中 ≠ 引用错误率。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检索有对照，但不宣称 Hybrid 更优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655064"/>
            <a:ext cx="10835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4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同一 22 题集完成 Dense / Hybrid 真实模型对照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560320"/>
          <a:ext cx="10762488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0488"/>
                <a:gridCol w="2286000"/>
                <a:gridCol w="2286000"/>
              </a:tblGrid>
              <a:tr h="694943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1C1917"/>
                          </a:solidFill>
                          <a:latin typeface="Microsoft YaHei"/>
                        </a:defRPr>
                      </a:pPr>
                      <a:r>
                        <a:t>分层指标</a:t>
                      </a:r>
                    </a:p>
                  </a:txBody>
                  <a:tcPr marL="109728" marR="73152" anchor="ctr">
                    <a:solidFill>
                      <a:srgbClr val="EAE0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500" b="1">
                          <a:solidFill>
                            <a:srgbClr val="1C1917"/>
                          </a:solidFill>
                          <a:latin typeface="Microsoft YaHei"/>
                        </a:defRPr>
                      </a:pPr>
                      <a:r>
                        <a:t>Dense</a:t>
                      </a:r>
                    </a:p>
                  </a:txBody>
                  <a:tcPr marL="109728" marR="73152" anchor="ctr">
                    <a:solidFill>
                      <a:srgbClr val="EAE0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500" b="1">
                          <a:solidFill>
                            <a:srgbClr val="1C1917"/>
                          </a:solidFill>
                          <a:latin typeface="Microsoft YaHei"/>
                        </a:defRPr>
                      </a:pPr>
                      <a:r>
                        <a:t>Hybrid</a:t>
                      </a:r>
                    </a:p>
                  </a:txBody>
                  <a:tcPr marL="109728" marR="73152" anchor="ctr">
                    <a:solidFill>
                      <a:srgbClr val="EAE0D2"/>
                    </a:solidFill>
                  </a:tcPr>
                </a:tc>
              </a:tr>
              <a:tr h="694943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C1917"/>
                          </a:solidFill>
                          <a:latin typeface="Microsoft YaHei"/>
                        </a:defRPr>
                      </a:pPr>
                      <a:r>
                        <a:t>全部应答题中的事实要点通过率</a:t>
                      </a:r>
                    </a:p>
                  </a:txBody>
                  <a:tcPr marL="109728" marR="73152" anchor="ctr"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500" b="1">
                          <a:solidFill>
                            <a:srgbClr val="9B2C2C"/>
                          </a:solidFill>
                          <a:latin typeface="Microsoft YaHei"/>
                        </a:defRPr>
                      </a:pPr>
                      <a:r>
                        <a:t>15/17</a:t>
                      </a:r>
                    </a:p>
                  </a:txBody>
                  <a:tcPr marL="109728" marR="73152" anchor="ctr"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500" b="1">
                          <a:solidFill>
                            <a:srgbClr val="9B2C2C"/>
                          </a:solidFill>
                          <a:latin typeface="Microsoft YaHei"/>
                        </a:defRPr>
                      </a:pPr>
                      <a:r>
                        <a:t>16/17</a:t>
                      </a:r>
                    </a:p>
                  </a:txBody>
                  <a:tcPr marL="109728" marR="73152" anchor="ctr">
                    <a:solidFill>
                      <a:srgbClr val="F7F1E8"/>
                    </a:solidFill>
                  </a:tcPr>
                </a:tc>
              </a:tr>
              <a:tr h="694945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C1917"/>
                          </a:solidFill>
                          <a:latin typeface="Microsoft YaHei"/>
                        </a:defRPr>
                      </a:pPr>
                      <a:r>
                        <a:t>严格预期页命中</a:t>
                      </a:r>
                    </a:p>
                  </a:txBody>
                  <a:tcPr marL="109728" marR="73152" anchor="ctr"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500" b="1">
                          <a:solidFill>
                            <a:srgbClr val="9B2C2C"/>
                          </a:solidFill>
                          <a:latin typeface="Microsoft YaHei"/>
                        </a:defRPr>
                      </a:pPr>
                      <a:r>
                        <a:t>12/16</a:t>
                      </a:r>
                    </a:p>
                  </a:txBody>
                  <a:tcPr marL="109728" marR="73152" anchor="ctr"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500" b="1">
                          <a:solidFill>
                            <a:srgbClr val="9B2C2C"/>
                          </a:solidFill>
                          <a:latin typeface="Microsoft YaHei"/>
                        </a:defRPr>
                      </a:pPr>
                      <a:r>
                        <a:t>12/16</a:t>
                      </a:r>
                    </a:p>
                  </a:txBody>
                  <a:tcPr marL="109728" marR="73152" anchor="ctr">
                    <a:solidFill>
                      <a:srgbClr val="F7F1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010912"/>
            <a:ext cx="1074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1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Keyword-only 候选本轮未进入最终 evidence，仍需校准门槛与准入。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14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22 题为项目开发者核验。事实要点分母 17，未回答计失败；页命中 ≠ 引用错误率。</a:t>
            </a:r>
          </a:p>
          <a:p>
            <a:pPr>
              <a:lnSpc>
                <a:spcPct val="116000"/>
              </a:lnSpc>
              <a:spcAft>
                <a:spcPts val="800"/>
              </a:spcAft>
              <a:defRPr sz="14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本轮不据此宣称 Hybrid 显著更好。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失败与无权限也讲清楚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73352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3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无课程权限：拒绝访问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3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依据不足：明确拒答或提示</a:t>
            </a:r>
          </a:p>
        </p:txBody>
      </p:sp>
      <p:pic>
        <p:nvPicPr>
          <p:cNvPr id="7" name="Picture 6" descr="10-PERM-无权限.png"/>
          <p:cNvPicPr>
            <a:picLocks noChangeAspect="1"/>
          </p:cNvPicPr>
          <p:nvPr/>
        </p:nvPicPr>
        <p:blipFill>
          <a:blip r:embed="rId3"/>
          <a:srcRect l="8000" t="15000" r="8000" b="32000"/>
          <a:stretch>
            <a:fillRect/>
          </a:stretch>
        </p:blipFill>
        <p:spPr>
          <a:xfrm>
            <a:off x="713232" y="2550307"/>
            <a:ext cx="5212080" cy="2854665"/>
          </a:xfrm>
          <a:prstGeom prst="rect">
            <a:avLst/>
          </a:prstGeom>
        </p:spPr>
      </p:pic>
      <p:pic>
        <p:nvPicPr>
          <p:cNvPr id="8" name="Picture 7" descr="05-学生-拒答.png"/>
          <p:cNvPicPr>
            <a:picLocks noChangeAspect="1"/>
          </p:cNvPicPr>
          <p:nvPr/>
        </p:nvPicPr>
        <p:blipFill>
          <a:blip r:embed="rId4"/>
          <a:srcRect l="18000" t="64000" r="19000"/>
          <a:stretch>
            <a:fillRect/>
          </a:stretch>
        </p:blipFill>
        <p:spPr>
          <a:xfrm>
            <a:off x="6263640" y="2943497"/>
            <a:ext cx="5212080" cy="20682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870448"/>
            <a:ext cx="10744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2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系统故障可单独区分，并提供重试入口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84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32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结题主线是学情反馈闭环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35331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18520" y="64190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800"/>
              </a:spcAft>
              <a:defRPr sz="1100" b="0">
                <a:solidFill>
                  <a:srgbClr val="74695F"/>
                </a:solidFill>
                <a:latin typeface="Microsoft YaHei"/>
              </a:defRPr>
            </a:pPr>
            <a:r>
              <a:rPr>
                <a:ea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3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可靠与证据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3113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1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权限、资料生命周期、引用定位与异常恢复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07792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3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学情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1985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1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问题归纳 → 教师确认 → 处理记录 → 代表问题回归（非成绩画像）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096512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300" b="1">
                <a:solidFill>
                  <a:srgbClr val="9B2C2C"/>
                </a:solidFill>
                <a:latin typeface="Microsoft YaHei"/>
              </a:defRPr>
            </a:pPr>
            <a:r>
              <a:rPr>
                <a:ea typeface="Microsoft YaHei"/>
              </a:rPr>
              <a:t>独立核验与工程收口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60857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100" b="0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未参与开发者复核、流式 / 性能基线、干净环境交付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559552"/>
            <a:ext cx="10872216" cy="0"/>
          </a:xfrm>
          <a:prstGeom prst="line">
            <a:avLst/>
          </a:prstGeom>
          <a:ln w="8890">
            <a:solidFill>
              <a:srgbClr val="D5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58521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defRPr sz="2400" b="1">
                <a:solidFill>
                  <a:srgbClr val="1C1917"/>
                </a:solidFill>
                <a:latin typeface="Microsoft YaHei"/>
              </a:defRPr>
            </a:pPr>
            <a:r>
              <a:rPr>
                <a:ea typeface="Microsoft YaHei"/>
              </a:rPr>
              <a:t>不承诺公网部署；先可靠、再验证、后扩展。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课程知识库 · 有据问答，通向教学反馈</dc:title>
  <dc:subject>大学生创新训练计划中期汇报</dc:subject>
  <dc:creator>高校课程知识库项目组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