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63247"/>
          </a:solidFill>
          <a:ln w="12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46520" y="1234440"/>
            <a:ext cx="5074920" cy="4526280"/>
          </a:xfrm>
          <a:prstGeom prst="roundRect">
            <a:avLst/>
          </a:prstGeom>
          <a:solidFill>
            <a:srgbClr val="1D4053"/>
          </a:solidFill>
          <a:ln w="12700">
            <a:solidFill>
              <a:srgbClr val="41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66560" y="1645920"/>
            <a:ext cx="2011680" cy="105156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课程资料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4 门课 · 27 份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645920"/>
            <a:ext cx="201168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3247"/>
                </a:solidFill>
                <a:latin typeface="Microsoft YaHei"/>
              </a:rPr>
              <a:t>演示检索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默认 Dense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0" y="2176272"/>
            <a:ext cx="320040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0" y="3017520"/>
            <a:ext cx="2011680" cy="105156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生成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DeepSeek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deepseek-flash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017520"/>
            <a:ext cx="201168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3247"/>
                </a:solidFill>
                <a:latin typeface="Microsoft YaHei"/>
              </a:rPr>
              <a:t>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引用回原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343400"/>
            <a:ext cx="2697480" cy="100584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734E"/>
                </a:solidFill>
                <a:latin typeface="Microsoft YaHei"/>
              </a:rPr>
              <a:t>教学反馈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高频问句 · 依据不足线索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532120"/>
            <a:ext cx="4434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D8E7EE"/>
                </a:solidFill>
                <a:latin typeface="Microsoft YaHei"/>
              </a:rPr>
              <a:t>检索命中 ≠ 答案正确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5120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高校课程知识库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智能问答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108960"/>
            <a:ext cx="822960" cy="54864"/>
          </a:xfrm>
          <a:prstGeom prst="rect">
            <a:avLst/>
          </a:prstGeom>
          <a:solidFill>
            <a:srgbClr val="D39A37"/>
          </a:solidFill>
          <a:ln w="12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2F6"/>
                </a:solidFill>
                <a:latin typeface="Microsoft YaHei"/>
              </a:rPr>
              <a:t>中期进展汇报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77639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3E1E8"/>
                </a:solidFill>
                <a:latin typeface="Microsoft YaHei"/>
              </a:rPr>
              <a:t>有依据、可核对的课程问答原型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349240"/>
            <a:ext cx="4937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39A37"/>
                </a:solidFill>
                <a:latin typeface="Microsoft YaHei"/>
              </a:rPr>
              <a:t>参考稿，队友可改；终稿可由答辩同学重做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989320"/>
            <a:ext cx="5029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3E1E8"/>
                </a:solidFill>
                <a:latin typeface="Microsoft YaHei"/>
              </a:rPr>
              <a:t>中文四课文本型 RAG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问题背景与中期目标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课件分散难定位；通用模型流畅≠课程依据；需要可核对的问答闭环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8288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47D78"/>
                </a:solidFill>
                <a:latin typeface="Microsoft YaHei"/>
              </a:rPr>
              <a:t>实际问题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53492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为什么要做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课程知识分散在多份讲义/课件中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自然语言问题难以靠文件名检索定位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通用大模型回答流畅，但未必对应当前课程口径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学生需要原文核对入口；教师需要问题分布线索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多课程场景必须守住访问边界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8288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中期目标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38528"/>
            <a:ext cx="5074920" cy="32461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本阶段交付什么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本机可演示的文本型 RAG 原型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中文四课受控资料：4 / 27 / 2,501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学生能提问、看引用、回原 PDF 页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依据不足与系统失败分开呈现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教师侧基础教学反馈（统计/待核对）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不宣称生产部署或通用多模态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63247"/>
                </a:solidFill>
                <a:latin typeface="Microsoft YaHei"/>
              </a:rPr>
              <a:t>核心价值：有依据、可核对的课程问答；教学反馈是辅助闭环。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课程资料管理 → 授权检索 → 证据问答 → 来源核对 → 教学反馈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57400" cy="233172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① 资料管理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上传解析入库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页级质量门禁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78892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691640"/>
            <a:ext cx="20574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3247"/>
                </a:solidFill>
                <a:latin typeface="Microsoft YaHei"/>
              </a:rPr>
              <a:t>② 授权检索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课程成员边界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课内候选召回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73752" y="278892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691640"/>
            <a:ext cx="2057400" cy="23317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③ 证据问答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受控上下文生成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有据 / 拒答 / 失败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59752" y="278892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1691640"/>
            <a:ext cx="20574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3247"/>
                </a:solidFill>
                <a:latin typeface="Microsoft YaHei"/>
              </a:rPr>
              <a:t>④ 来源核对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引用摘录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打开原 PDF 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45752" y="278892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6920" y="1691640"/>
            <a:ext cx="2057400" cy="233172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734E"/>
                </a:solidFill>
                <a:latin typeface="Microsoft YaHei"/>
              </a:rPr>
              <a:t>⑤ 教学反馈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高频问句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依据不足线索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1088136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三角色分工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37760"/>
            <a:ext cx="10332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3642"/>
                </a:solidFill>
                <a:latin typeface="Microsoft YaHei"/>
              </a:rPr>
              <a:t>管理员：账号与课程、成员授权　｜　教师：本课资料状态与基础反馈　｜　学生：我的课程 → 提问 → 查看引用 → 回原页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技术亮点 · 双叙事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教学场景闭环 + 检索/生成技术；中期只讲能演示、有证据的能力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3977639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47D78"/>
                </a:solidFill>
                <a:latin typeface="Microsoft YaHei"/>
              </a:rPr>
              <a:t>A. 教学场景闭环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课界权限贯穿检索—生成—打开原文件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证据不足可拒答，不编造课外步骤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引用带回原 PDF 页（#page=）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三角色分工清晰，不是单一聊天窗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教师问答反馈：高频问句与依据不足线索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49240" cy="3977639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39A37"/>
                </a:solidFill>
                <a:latin typeface="Microsoft YaHei"/>
              </a:rPr>
              <a:t>B. 检索 / 生成技术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页级解析 + 质量门禁（PyMuPDF）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向量检索 BGE-M3 + 证据约束生成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DeepSeek（deepseek-flash）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dense / hybrid / rerank 已实现可开关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中期主演示：dense，rerank 关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Hybrid 对照实验放后期，不作主结论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系统链路与技术栈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复用成熟组件；本地实现课程边界、来源映射与失败状态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691640" cy="141732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课程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原始文件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课程隔离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1991" y="2377440"/>
            <a:ext cx="201169" cy="0"/>
          </a:xfrm>
          <a:prstGeom prst="line">
            <a:avLst/>
          </a:prstGeom>
          <a:ln w="22860">
            <a:solidFill>
              <a:srgbClr val="24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80" y="1691640"/>
            <a:ext cx="16916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解析质检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PyMuPDF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页级门禁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87952" y="2377440"/>
            <a:ext cx="201168" cy="0"/>
          </a:xfrm>
          <a:prstGeom prst="line">
            <a:avLst/>
          </a:prstGeom>
          <a:ln w="22860">
            <a:solidFill>
              <a:srgbClr val="24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1691640"/>
            <a:ext cx="16916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切分索引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语义切分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BGE-M3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53912" y="2377440"/>
            <a:ext cx="201168" cy="0"/>
          </a:xfrm>
          <a:prstGeom prst="line">
            <a:avLst/>
          </a:prstGeom>
          <a:ln w="22860">
            <a:solidFill>
              <a:srgbClr val="24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1691640"/>
            <a:ext cx="16916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默认 Dense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可选 Hybrid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19871" y="2377440"/>
            <a:ext cx="201169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60" y="1691640"/>
            <a:ext cx="1691640" cy="14173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DeepSeek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deepseek-flash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0058400" y="2377440"/>
            <a:ext cx="27432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04120" y="1691640"/>
            <a:ext cx="1691640" cy="14173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7272" y="1828800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学生答案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2240280"/>
            <a:ext cx="15544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回答/引用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依据不足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29000"/>
            <a:ext cx="108813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61188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应用层栈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023360"/>
            <a:ext cx="10332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3642"/>
                </a:solidFill>
                <a:latin typeface="Microsoft YaHei"/>
              </a:rPr>
              <a:t>FastAPI + PostgreSQL/pgvector + Vue 3 · Cookie Session · admin / teacher / student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34840"/>
            <a:ext cx="10332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3642"/>
                </a:solidFill>
                <a:latin typeface="Microsoft YaHei"/>
              </a:rPr>
              <a:t>Embedding：SiliconFlow BAAI/bge-m3　｜　生成：DeepSeek（deepseek-flash，关闭 thinking）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89204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39A37"/>
                </a:solidFill>
                <a:latin typeface="Microsoft YaHei"/>
              </a:rPr>
              <a:t>中期演示默认 Dense；Hybrid/BM25/rerank 已实现可开关，不作中期主结论。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中文四课中期证据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正式演示库 univ_course_rag_cn_v2；弱规则验收 + 彩排 PASS，不是人工事实正确率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46888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691640"/>
            <a:ext cx="232257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47D78"/>
                </a:solidFill>
                <a:latin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185416"/>
            <a:ext cx="232257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门课程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00200"/>
            <a:ext cx="246888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691640"/>
            <a:ext cx="232257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D39A37"/>
                </a:solidFill>
                <a:latin typeface="Microsoft YaHe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185416"/>
            <a:ext cx="232257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份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00200"/>
            <a:ext cx="246888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1691640"/>
            <a:ext cx="232257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6734E"/>
                </a:solidFill>
                <a:latin typeface="Microsoft YaHei"/>
              </a:rPr>
              <a:t>2501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185416"/>
            <a:ext cx="232257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600200"/>
            <a:ext cx="265176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691640"/>
            <a:ext cx="250545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cn_v2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185416"/>
            <a:ext cx="250545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演示库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539496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47D78"/>
                </a:solidFill>
                <a:latin typeface="Microsoft YaHei"/>
              </a:rPr>
              <a:t>课程与验收口径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线性代数 · 概率论与统计学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人力资源管理 · 教育学原理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弱规则：可答题预期文档/页 12/12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预期拒答 4/4 · 阈值 0.45（未校准）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题集 AI 预标，未经独立人工复核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26080"/>
            <a:ext cx="5257800" cy="23317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演示检索与模型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默认 Dense + 可选查询扩展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rerank 演示关闭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生成：DeepSeek（deepseek-flash）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Embedding：BGE-M3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证据目录：中期答辩材料/彩排截图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演示路径：固定问句与引用回页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线性代数 LA-01 有引用；LA-R 依据不足；截图见中期答辩材料/彩排截图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507492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ent-ask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43" y="1645920"/>
            <a:ext cx="3752697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297680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3247"/>
                </a:solidFill>
                <a:latin typeface="Microsoft YaHei"/>
              </a:rPr>
              <a:t>LA-01：回答与引用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udent-shelf-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63" y="1645920"/>
            <a:ext cx="3752697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297680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3247"/>
                </a:solidFill>
                <a:latin typeface="Microsoft YaHei"/>
              </a:rPr>
              <a:t>学生书架：中文四课入口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2651760" cy="347472"/>
          </a:xfrm>
          <a:prstGeom prst="roundRect">
            <a:avLst/>
          </a:prstGeom>
          <a:solidFill>
            <a:srgbClr val="E4F1E9"/>
          </a:solidFill>
          <a:ln w="6350">
            <a:solidFill>
              <a:srgbClr val="E4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68596"/>
            <a:ext cx="2560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734E"/>
                </a:solidFill>
                <a:latin typeface="Microsoft YaHei"/>
              </a:rPr>
              <a:t>LA-01 有引用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754880"/>
            <a:ext cx="2651760" cy="347472"/>
          </a:xfrm>
          <a:prstGeom prst="roundRect">
            <a:avLst/>
          </a:prstGeom>
          <a:solidFill>
            <a:srgbClr val="FBF0D8"/>
          </a:solidFill>
          <a:ln w="6350">
            <a:solidFill>
              <a:srgbClr val="FB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4768596"/>
            <a:ext cx="2560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39A37"/>
                </a:solidFill>
                <a:latin typeface="Microsoft YaHei"/>
              </a:rPr>
              <a:t>LA-R 依据不足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754880"/>
            <a:ext cx="2468880" cy="347472"/>
          </a:xfrm>
          <a:prstGeom prst="roundRect">
            <a:avLst/>
          </a:prstGeom>
          <a:solidFill>
            <a:srgbClr val="E4F2F0"/>
          </a:solidFill>
          <a:ln w="6350">
            <a:solidFill>
              <a:srgbClr val="E4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76859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47D78"/>
                </a:solidFill>
                <a:latin typeface="Microsoft YaHei"/>
              </a:rPr>
              <a:t>打开 #page=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754880"/>
            <a:ext cx="2468880" cy="347472"/>
          </a:xfrm>
          <a:prstGeom prst="roundRect">
            <a:avLst/>
          </a:prstGeom>
          <a:solidFill>
            <a:srgbClr val="E4F1E9"/>
          </a:solidFill>
          <a:ln w="6350">
            <a:solidFill>
              <a:srgbClr val="E4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476859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734E"/>
                </a:solidFill>
                <a:latin typeface="Microsoft YaHei"/>
              </a:rPr>
              <a:t>三角色可走通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固定问句与顺序见 docs/中期演示运行卡.md；证据截图：中期答辩材料/彩排截图/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教学反馈：辅助闭环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把重复提问与依据不足整理成教师可核对的线索，不直接推断学生能力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94960" cy="379476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47D78"/>
                </a:solidFill>
                <a:latin typeface="Microsoft YaHei"/>
              </a:rPr>
              <a:t>中期已交付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规范化问句统计（本课高频）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依据不足问题列表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提问留存窗口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教师视图不展示学生身份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反馈是「待核对线索」，不是成绩画像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257800" cy="3794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39A37"/>
                </a:solidFill>
                <a:latin typeface="Microsoft YaHei"/>
              </a:rPr>
              <a:t>后续争取 / 诚实边界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小规模同义问题组（默认关闭）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阈值未校准，效果待真实条件验证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不据此宣称教学质量提升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与学生问答共用课程边界与留存策略</a:t>
            </a:r>
          </a:p>
          <a:p>
            <a:pPr algn="l">
              <a:spcAft>
                <a:spcPts val="200"/>
              </a:spcAft>
            </a:pPr>
            <a:r>
              <a:rPr sz="1600">
                <a:solidFill>
                  <a:srgbClr val="263642"/>
                </a:solidFill>
                <a:latin typeface="Microsoft YaHei"/>
              </a:rPr>
              <a:t>• 演示时可打开教师侧反馈入口一眼带过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现有不足（三条）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把边界讲清楚，比夸大进展更有说服力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11880" cy="388620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84242"/>
                </a:solidFill>
                <a:latin typeface="Microsoft YaHei"/>
              </a:rPr>
              <a:t>① 评价未人工复核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仅有弱规则命中与拒答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事实正确 ≠ 引用支持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尚无独立人工事实正确率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题集为 AI 预标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611880" cy="388620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② 复杂资料未覆盖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非 OCR / 扫描件主线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公式与图表理解有限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纯图页覆盖不全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文字层 PDF 是中期范围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520440" cy="3886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③ 产品化待验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阈值与同义分组未校准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供应商账单 / 成本待验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单机演示，非校园网并发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开题争取项尚未全部兑现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3247"/>
                </a:solidFill>
                <a:latin typeface="Microsoft YaHei"/>
              </a:rPr>
              <a:t>后期计划与中期结论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32104"/>
            <a:ext cx="10881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四条可汇报的下一步；不承诺公网生产部署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80160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686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中期进展（参考稿）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137160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01 人工复核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小样本抽检事实正确与引用支持是否一致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00200"/>
            <a:ext cx="5532120" cy="137160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02 检索对照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Hybrid / rerank 与 dense 对照，有无收益都如实报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5532120" cy="137160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03 同义问题组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教师侧校准后再开，服务备课线索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154680"/>
            <a:ext cx="5532120" cy="137160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04 试用与成本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263642"/>
                </a:solidFill>
                <a:latin typeface="Microsoft YaHei"/>
              </a:rPr>
              <a:t>结题非开发者试用 + 资源账单；不承诺公网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55680" cy="9601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结论：双叙事亮点可讲清——课界+证据闭环，与页级检索/生成技术；本机可演示。开题「重点争取」项诚实后置。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高校课程知识库智能问答：中期进展（参考稿）</dc:title>
  <dc:subject>中文四课 cn_v2、双叙事亮点、不足与后期计划</dc:subject>
  <dc:creator>项目组</dc:creator>
  <cp:keywords>RAG, 课程知识库, 引用, 中期, 参考稿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