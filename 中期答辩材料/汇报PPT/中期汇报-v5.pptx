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324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035040" cy="6858000"/>
          </a:xfrm>
          <a:prstGeom prst="rect">
            <a:avLst/>
          </a:prstGeom>
          <a:solidFill>
            <a:srgbClr val="163247"/>
          </a:solidFill>
          <a:ln w="1270">
            <a:solidFill>
              <a:srgbClr val="1632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46520" y="1234440"/>
            <a:ext cx="5074920" cy="4526280"/>
          </a:xfrm>
          <a:prstGeom prst="roundRect">
            <a:avLst/>
          </a:prstGeom>
          <a:solidFill>
            <a:srgbClr val="1D4053"/>
          </a:solidFill>
          <a:ln w="12700">
            <a:solidFill>
              <a:srgbClr val="4161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766560" y="1645920"/>
            <a:ext cx="2011680" cy="1051560"/>
          </a:xfrm>
          <a:prstGeom prst="roundRect">
            <a:avLst/>
          </a:prstGeom>
          <a:solidFill>
            <a:srgbClr val="E4F2F0"/>
          </a:solidFill>
          <a:ln w="13970">
            <a:solidFill>
              <a:srgbClr val="247D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91440" bIns="73152"/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247D78"/>
                </a:solidFill>
                <a:latin typeface="Microsoft YaHei"/>
              </a:rPr>
              <a:t>课程资料</a:t>
            </a:r>
          </a:p>
          <a:p>
            <a:pPr algn="l">
              <a:spcAft>
                <a:spcPts val="200"/>
              </a:spcAft>
            </a:pPr>
            <a:r>
              <a:rPr sz="1300">
                <a:solidFill>
                  <a:srgbClr val="263642"/>
                </a:solidFill>
                <a:latin typeface="Microsoft YaHei"/>
              </a:rPr>
              <a:t>4 门课 · 27 份 PDF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0" y="1645920"/>
            <a:ext cx="2011680" cy="105156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91440" bIns="73152"/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163247"/>
                </a:solidFill>
                <a:latin typeface="Microsoft YaHei"/>
              </a:rPr>
              <a:t>演示检索</a:t>
            </a:r>
          </a:p>
          <a:p>
            <a:pPr algn="l">
              <a:spcAft>
                <a:spcPts val="200"/>
              </a:spcAft>
            </a:pPr>
            <a:r>
              <a:rPr sz="1300">
                <a:solidFill>
                  <a:srgbClr val="263642"/>
                </a:solidFill>
                <a:latin typeface="Microsoft YaHei"/>
              </a:rPr>
              <a:t>默认 Dense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8778240" y="2176272"/>
            <a:ext cx="320040" cy="0"/>
          </a:xfrm>
          <a:prstGeom prst="line">
            <a:avLst/>
          </a:prstGeom>
          <a:ln w="25400">
            <a:solidFill>
              <a:srgbClr val="D39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6766560" y="3017520"/>
            <a:ext cx="2011680" cy="1051560"/>
          </a:xfrm>
          <a:prstGeom prst="roundRect">
            <a:avLst/>
          </a:prstGeom>
          <a:solidFill>
            <a:srgbClr val="FBF0D8"/>
          </a:solidFill>
          <a:ln w="13970">
            <a:solidFill>
              <a:srgbClr val="D39A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91440" bIns="73152"/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D39A37"/>
                </a:solidFill>
                <a:latin typeface="Microsoft YaHei"/>
              </a:rPr>
              <a:t>生成</a:t>
            </a:r>
          </a:p>
          <a:p>
            <a:pPr algn="l">
              <a:spcAft>
                <a:spcPts val="200"/>
              </a:spcAft>
            </a:pPr>
            <a:r>
              <a:rPr sz="1200">
                <a:solidFill>
                  <a:srgbClr val="263642"/>
                </a:solidFill>
                <a:latin typeface="Microsoft YaHei"/>
              </a:rPr>
              <a:t>DeepSeek</a:t>
            </a:r>
          </a:p>
          <a:p>
            <a:pPr algn="l">
              <a:spcAft>
                <a:spcPts val="200"/>
              </a:spcAft>
            </a:pPr>
            <a:r>
              <a:rPr sz="1200">
                <a:solidFill>
                  <a:srgbClr val="263642"/>
                </a:solidFill>
                <a:latin typeface="Microsoft YaHei"/>
              </a:rPr>
              <a:t>deepseek-flash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0" y="3017520"/>
            <a:ext cx="2011680" cy="105156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91440" bIns="73152"/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163247"/>
                </a:solidFill>
                <a:latin typeface="Microsoft YaHei"/>
              </a:rPr>
              <a:t>核对</a:t>
            </a:r>
          </a:p>
          <a:p>
            <a:pPr algn="l">
              <a:spcAft>
                <a:spcPts val="200"/>
              </a:spcAft>
            </a:pPr>
            <a:r>
              <a:rPr sz="1300">
                <a:solidFill>
                  <a:srgbClr val="263642"/>
                </a:solidFill>
                <a:latin typeface="Microsoft YaHei"/>
              </a:rPr>
              <a:t>引用回原 PDF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635240" y="4343400"/>
            <a:ext cx="2697480" cy="1005840"/>
          </a:xfrm>
          <a:prstGeom prst="roundRect">
            <a:avLst/>
          </a:prstGeom>
          <a:solidFill>
            <a:srgbClr val="E4F1E9"/>
          </a:solidFill>
          <a:ln w="13970">
            <a:solidFill>
              <a:srgbClr val="2673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91440" bIns="73152"/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26734E"/>
                </a:solidFill>
                <a:latin typeface="Microsoft YaHei"/>
              </a:rPr>
              <a:t>教学反馈</a:t>
            </a:r>
          </a:p>
          <a:p>
            <a:pPr algn="l">
              <a:spcAft>
                <a:spcPts val="200"/>
              </a:spcAft>
            </a:pPr>
            <a:r>
              <a:rPr sz="1200">
                <a:solidFill>
                  <a:srgbClr val="263642"/>
                </a:solidFill>
                <a:latin typeface="Microsoft YaHei"/>
              </a:rPr>
              <a:t>高频问句 · 依据不足线索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66560" y="5532120"/>
            <a:ext cx="4434840" cy="29260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D8E7EE"/>
                </a:solidFill>
                <a:latin typeface="Microsoft YaHei"/>
              </a:rPr>
              <a:t>检索命中 ≠ 答案正确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" y="1417320"/>
            <a:ext cx="5120640" cy="14173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3600" b="1">
                <a:solidFill>
                  <a:srgbClr val="FFFFFF"/>
                </a:solidFill>
                <a:latin typeface="Microsoft YaHei"/>
              </a:rPr>
              <a:t>高校课程知识库</a:t>
            </a:r>
          </a:p>
          <a:p>
            <a:pPr algn="l">
              <a:spcAft>
                <a:spcPts val="200"/>
              </a:spcAft>
            </a:pPr>
            <a:r>
              <a:rPr sz="3600" b="1">
                <a:solidFill>
                  <a:srgbClr val="FFFFFF"/>
                </a:solidFill>
                <a:latin typeface="Microsoft YaHei"/>
              </a:rPr>
              <a:t>智能问答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49808" y="3108960"/>
            <a:ext cx="822960" cy="54864"/>
          </a:xfrm>
          <a:prstGeom prst="rect">
            <a:avLst/>
          </a:prstGeom>
          <a:solidFill>
            <a:srgbClr val="D39A37"/>
          </a:solidFill>
          <a:ln w="1270">
            <a:solidFill>
              <a:srgbClr val="D39A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9808" y="3383280"/>
            <a:ext cx="4754880" cy="4572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2400" b="1">
                <a:solidFill>
                  <a:srgbClr val="EAF2F6"/>
                </a:solidFill>
                <a:latin typeface="Microsoft YaHei"/>
              </a:rPr>
              <a:t>中期进展汇报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8096" y="3977639"/>
            <a:ext cx="4846320" cy="32918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0">
                <a:solidFill>
                  <a:srgbClr val="D3E1E8"/>
                </a:solidFill>
                <a:latin typeface="Microsoft YaHei"/>
              </a:rPr>
              <a:t>有依据、可核对的课程问答原型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8096" y="5349240"/>
            <a:ext cx="4937760" cy="32918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D39A37"/>
                </a:solidFill>
                <a:latin typeface="Microsoft YaHei"/>
              </a:rPr>
              <a:t>参考稿，队友可改；终稿可由答辩同学重做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" y="5989320"/>
            <a:ext cx="5029200" cy="310896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0">
                <a:solidFill>
                  <a:srgbClr val="D3E1E8"/>
                </a:solidFill>
                <a:latin typeface="Microsoft YaHei"/>
              </a:rPr>
              <a:t>中文四课文本型 RAG · 2026.10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0972800" cy="4754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3247"/>
                </a:solidFill>
                <a:latin typeface="Microsoft YaHei"/>
              </a:rPr>
              <a:t>问题背景与中期目标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32104"/>
            <a:ext cx="10881360" cy="36576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0">
                <a:solidFill>
                  <a:srgbClr val="61727D"/>
                </a:solidFill>
                <a:latin typeface="Microsoft YaHei"/>
              </a:rPr>
              <a:t>课件分散难定位；通用模型流畅≠课程依据；需要可核对的问答闭环</a:t>
            </a:r>
          </a:p>
        </p:txBody>
      </p:sp>
      <p:sp>
        <p:nvSpPr>
          <p:cNvPr id="4" name="Rectangle 3"/>
          <p:cNvSpPr/>
          <p:nvPr/>
        </p:nvSpPr>
        <p:spPr>
          <a:xfrm>
            <a:off x="603504" y="1280160"/>
            <a:ext cx="658368" cy="41148"/>
          </a:xfrm>
          <a:prstGeom prst="rect">
            <a:avLst/>
          </a:prstGeom>
          <a:solidFill>
            <a:srgbClr val="D39A37"/>
          </a:solidFill>
          <a:ln w="2540">
            <a:solidFill>
              <a:srgbClr val="D39A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6510528"/>
            <a:ext cx="8686800" cy="1828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61727D"/>
                </a:solidFill>
                <a:latin typeface="Microsoft YaHei"/>
              </a:rPr>
              <a:t>高校课程知识库智能问答 · 中期进展（参考稿）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98480" y="6492240"/>
            <a:ext cx="868680" cy="20116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>
              <a:spcAft>
                <a:spcPts val="200"/>
              </a:spcAft>
            </a:pPr>
            <a:r>
              <a:rPr sz="900" b="0">
                <a:solidFill>
                  <a:srgbClr val="61727D"/>
                </a:solidFill>
                <a:latin typeface="Microsoft YaHei"/>
              </a:rPr>
              <a:t>02 / 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554480"/>
            <a:ext cx="1828800" cy="32918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800" b="1">
                <a:solidFill>
                  <a:srgbClr val="247D78"/>
                </a:solidFill>
                <a:latin typeface="Microsoft YaHei"/>
              </a:rPr>
              <a:t>实际问题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1938528"/>
            <a:ext cx="5349240" cy="324612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D6E0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91440" bIns="73152"/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163247"/>
                </a:solidFill>
                <a:latin typeface="Microsoft YaHei"/>
              </a:rPr>
              <a:t>为什么要做</a:t>
            </a:r>
          </a:p>
          <a:p>
            <a:pPr algn="l">
              <a:spcAft>
                <a:spcPts val="200"/>
              </a:spcAft>
            </a:pPr>
            <a:r>
              <a:rPr sz="1500">
                <a:solidFill>
                  <a:srgbClr val="263642"/>
                </a:solidFill>
                <a:latin typeface="Microsoft YaHei"/>
              </a:rPr>
              <a:t>• 课程知识分散在多份讲义/课件中</a:t>
            </a:r>
          </a:p>
          <a:p>
            <a:pPr algn="l">
              <a:spcAft>
                <a:spcPts val="200"/>
              </a:spcAft>
            </a:pPr>
            <a:r>
              <a:rPr sz="1500">
                <a:solidFill>
                  <a:srgbClr val="263642"/>
                </a:solidFill>
                <a:latin typeface="Microsoft YaHei"/>
              </a:rPr>
              <a:t>• 自然语言问题难以靠文件名检索定位</a:t>
            </a:r>
          </a:p>
          <a:p>
            <a:pPr algn="l">
              <a:spcAft>
                <a:spcPts val="200"/>
              </a:spcAft>
            </a:pPr>
            <a:r>
              <a:rPr sz="1500">
                <a:solidFill>
                  <a:srgbClr val="263642"/>
                </a:solidFill>
                <a:latin typeface="Microsoft YaHei"/>
              </a:rPr>
              <a:t>• 通用大模型回答流畅，但未必对应当前课程口径</a:t>
            </a:r>
          </a:p>
          <a:p>
            <a:pPr algn="l">
              <a:spcAft>
                <a:spcPts val="200"/>
              </a:spcAft>
            </a:pPr>
            <a:r>
              <a:rPr sz="1500">
                <a:solidFill>
                  <a:srgbClr val="263642"/>
                </a:solidFill>
                <a:latin typeface="Microsoft YaHei"/>
              </a:rPr>
              <a:t>• 学生需要原文核对入口；教师需要问题分布线索</a:t>
            </a:r>
          </a:p>
          <a:p>
            <a:pPr algn="l">
              <a:spcAft>
                <a:spcPts val="200"/>
              </a:spcAft>
            </a:pPr>
            <a:r>
              <a:rPr sz="1500">
                <a:solidFill>
                  <a:srgbClr val="263642"/>
                </a:solidFill>
                <a:latin typeface="Microsoft YaHei"/>
              </a:rPr>
              <a:t>• 多课程场景必须守住访问边界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554480"/>
            <a:ext cx="1828800" cy="32918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800" b="1">
                <a:solidFill>
                  <a:srgbClr val="D39A37"/>
                </a:solidFill>
                <a:latin typeface="Microsoft YaHei"/>
              </a:rPr>
              <a:t>中期目标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1938528"/>
            <a:ext cx="5074920" cy="3246120"/>
          </a:xfrm>
          <a:prstGeom prst="roundRect">
            <a:avLst/>
          </a:prstGeom>
          <a:solidFill>
            <a:srgbClr val="FBF0D8"/>
          </a:solidFill>
          <a:ln w="13970">
            <a:solidFill>
              <a:srgbClr val="D39A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91440" bIns="73152"/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D39A37"/>
                </a:solidFill>
                <a:latin typeface="Microsoft YaHei"/>
              </a:rPr>
              <a:t>本阶段交付什么</a:t>
            </a:r>
          </a:p>
          <a:p>
            <a:pPr algn="l">
              <a:spcAft>
                <a:spcPts val="200"/>
              </a:spcAft>
            </a:pPr>
            <a:r>
              <a:rPr sz="1500">
                <a:solidFill>
                  <a:srgbClr val="263642"/>
                </a:solidFill>
                <a:latin typeface="Microsoft YaHei"/>
              </a:rPr>
              <a:t>• 本机可演示的文本型 RAG 原型</a:t>
            </a:r>
          </a:p>
          <a:p>
            <a:pPr algn="l">
              <a:spcAft>
                <a:spcPts val="200"/>
              </a:spcAft>
            </a:pPr>
            <a:r>
              <a:rPr sz="1500">
                <a:solidFill>
                  <a:srgbClr val="263642"/>
                </a:solidFill>
                <a:latin typeface="Microsoft YaHei"/>
              </a:rPr>
              <a:t>• 中文四课受控资料：4 / 27 / 2,501</a:t>
            </a:r>
          </a:p>
          <a:p>
            <a:pPr algn="l">
              <a:spcAft>
                <a:spcPts val="200"/>
              </a:spcAft>
            </a:pPr>
            <a:r>
              <a:rPr sz="1500">
                <a:solidFill>
                  <a:srgbClr val="263642"/>
                </a:solidFill>
                <a:latin typeface="Microsoft YaHei"/>
              </a:rPr>
              <a:t>• 学生能提问、看引用、回原 PDF 页</a:t>
            </a:r>
          </a:p>
          <a:p>
            <a:pPr algn="l">
              <a:spcAft>
                <a:spcPts val="200"/>
              </a:spcAft>
            </a:pPr>
            <a:r>
              <a:rPr sz="1500">
                <a:solidFill>
                  <a:srgbClr val="263642"/>
                </a:solidFill>
                <a:latin typeface="Microsoft YaHei"/>
              </a:rPr>
              <a:t>• 依据不足与系统失败分开呈现</a:t>
            </a:r>
          </a:p>
          <a:p>
            <a:pPr algn="l">
              <a:spcAft>
                <a:spcPts val="200"/>
              </a:spcAft>
            </a:pPr>
            <a:r>
              <a:rPr sz="1500">
                <a:solidFill>
                  <a:srgbClr val="263642"/>
                </a:solidFill>
                <a:latin typeface="Microsoft YaHei"/>
              </a:rPr>
              <a:t>• 教师侧基础教学反馈（统计/待核对）</a:t>
            </a:r>
          </a:p>
          <a:p>
            <a:pPr algn="l">
              <a:spcAft>
                <a:spcPts val="200"/>
              </a:spcAft>
            </a:pPr>
            <a:r>
              <a:rPr sz="1500">
                <a:solidFill>
                  <a:srgbClr val="263642"/>
                </a:solidFill>
                <a:latin typeface="Microsoft YaHei"/>
              </a:rPr>
              <a:t>• 不宣称生产部署或通用多模态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5532120"/>
            <a:ext cx="10607040" cy="32918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163247"/>
                </a:solidFill>
                <a:latin typeface="Microsoft YaHei"/>
              </a:rPr>
              <a:t>核心价值：有依据、可核对的课程问答；教学反馈是辅助闭环。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0972800" cy="4754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3247"/>
                </a:solidFill>
                <a:latin typeface="Microsoft YaHei"/>
              </a:rPr>
              <a:t>业务闭环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32104"/>
            <a:ext cx="10881360" cy="36576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0">
                <a:solidFill>
                  <a:srgbClr val="61727D"/>
                </a:solidFill>
                <a:latin typeface="Microsoft YaHei"/>
              </a:rPr>
              <a:t>课程资料管理 → 授权检索 → 证据问答 → 来源核对 → 教学反馈</a:t>
            </a:r>
          </a:p>
        </p:txBody>
      </p:sp>
      <p:sp>
        <p:nvSpPr>
          <p:cNvPr id="4" name="Rectangle 3"/>
          <p:cNvSpPr/>
          <p:nvPr/>
        </p:nvSpPr>
        <p:spPr>
          <a:xfrm>
            <a:off x="603504" y="1280160"/>
            <a:ext cx="658368" cy="41148"/>
          </a:xfrm>
          <a:prstGeom prst="rect">
            <a:avLst/>
          </a:prstGeom>
          <a:solidFill>
            <a:srgbClr val="D39A37"/>
          </a:solidFill>
          <a:ln w="2540">
            <a:solidFill>
              <a:srgbClr val="D39A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6510528"/>
            <a:ext cx="8686800" cy="1828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61727D"/>
                </a:solidFill>
                <a:latin typeface="Microsoft YaHei"/>
              </a:rPr>
              <a:t>高校课程知识库智能问答 · 中期进展（参考稿）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98480" y="6492240"/>
            <a:ext cx="868680" cy="20116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>
              <a:spcAft>
                <a:spcPts val="200"/>
              </a:spcAft>
            </a:pPr>
            <a:r>
              <a:rPr sz="900" b="0">
                <a:solidFill>
                  <a:srgbClr val="61727D"/>
                </a:solidFill>
                <a:latin typeface="Microsoft YaHei"/>
              </a:rPr>
              <a:t>03 / 10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691640"/>
            <a:ext cx="2057400" cy="2331720"/>
          </a:xfrm>
          <a:prstGeom prst="roundRect">
            <a:avLst/>
          </a:prstGeom>
          <a:solidFill>
            <a:srgbClr val="E4F2F0"/>
          </a:solidFill>
          <a:ln w="13970">
            <a:solidFill>
              <a:srgbClr val="247D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91440" bIns="73152"/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247D78"/>
                </a:solidFill>
                <a:latin typeface="Microsoft YaHei"/>
              </a:rPr>
              <a:t>① 资料管理</a:t>
            </a:r>
          </a:p>
          <a:p>
            <a:pPr algn="l">
              <a:spcAft>
                <a:spcPts val="200"/>
              </a:spcAft>
            </a:pPr>
            <a:r>
              <a:rPr sz="1400">
                <a:solidFill>
                  <a:srgbClr val="263642"/>
                </a:solidFill>
                <a:latin typeface="Microsoft YaHei"/>
              </a:rPr>
              <a:t>上传解析入库</a:t>
            </a:r>
          </a:p>
          <a:p>
            <a:pPr algn="l">
              <a:spcAft>
                <a:spcPts val="200"/>
              </a:spcAft>
            </a:pPr>
            <a:r>
              <a:rPr sz="1400">
                <a:solidFill>
                  <a:srgbClr val="263642"/>
                </a:solidFill>
                <a:latin typeface="Microsoft YaHei"/>
              </a:rPr>
              <a:t>页级质量门禁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587752" y="2788920"/>
            <a:ext cx="128016" cy="0"/>
          </a:xfrm>
          <a:prstGeom prst="line">
            <a:avLst/>
          </a:prstGeom>
          <a:ln w="25400">
            <a:solidFill>
              <a:srgbClr val="D39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2788920" y="1691640"/>
            <a:ext cx="2057400" cy="233172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247D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91440" bIns="73152"/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163247"/>
                </a:solidFill>
                <a:latin typeface="Microsoft YaHei"/>
              </a:rPr>
              <a:t>② 授权检索</a:t>
            </a:r>
          </a:p>
          <a:p>
            <a:pPr algn="l">
              <a:spcAft>
                <a:spcPts val="200"/>
              </a:spcAft>
            </a:pPr>
            <a:r>
              <a:rPr sz="1400">
                <a:solidFill>
                  <a:srgbClr val="263642"/>
                </a:solidFill>
                <a:latin typeface="Microsoft YaHei"/>
              </a:rPr>
              <a:t>课程成员边界</a:t>
            </a:r>
          </a:p>
          <a:p>
            <a:pPr algn="l">
              <a:spcAft>
                <a:spcPts val="200"/>
              </a:spcAft>
            </a:pPr>
            <a:r>
              <a:rPr sz="1400">
                <a:solidFill>
                  <a:srgbClr val="263642"/>
                </a:solidFill>
                <a:latin typeface="Microsoft YaHei"/>
              </a:rPr>
              <a:t>课内候选召回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873752" y="2788920"/>
            <a:ext cx="128016" cy="0"/>
          </a:xfrm>
          <a:prstGeom prst="line">
            <a:avLst/>
          </a:prstGeom>
          <a:ln w="25400">
            <a:solidFill>
              <a:srgbClr val="D39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5074920" y="1691640"/>
            <a:ext cx="2057400" cy="2331720"/>
          </a:xfrm>
          <a:prstGeom prst="roundRect">
            <a:avLst/>
          </a:prstGeom>
          <a:solidFill>
            <a:srgbClr val="FBF0D8"/>
          </a:solidFill>
          <a:ln w="13970">
            <a:solidFill>
              <a:srgbClr val="D39A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91440" bIns="73152"/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D39A37"/>
                </a:solidFill>
                <a:latin typeface="Microsoft YaHei"/>
              </a:rPr>
              <a:t>③ 证据问答</a:t>
            </a:r>
          </a:p>
          <a:p>
            <a:pPr algn="l">
              <a:spcAft>
                <a:spcPts val="200"/>
              </a:spcAft>
            </a:pPr>
            <a:r>
              <a:rPr sz="1400">
                <a:solidFill>
                  <a:srgbClr val="263642"/>
                </a:solidFill>
                <a:latin typeface="Microsoft YaHei"/>
              </a:rPr>
              <a:t>受控上下文生成</a:t>
            </a:r>
          </a:p>
          <a:p>
            <a:pPr algn="l">
              <a:spcAft>
                <a:spcPts val="200"/>
              </a:spcAft>
            </a:pPr>
            <a:r>
              <a:rPr sz="1400">
                <a:solidFill>
                  <a:srgbClr val="263642"/>
                </a:solidFill>
                <a:latin typeface="Microsoft YaHei"/>
              </a:rPr>
              <a:t>有据 / 拒答 / 失败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159752" y="2788920"/>
            <a:ext cx="128016" cy="0"/>
          </a:xfrm>
          <a:prstGeom prst="line">
            <a:avLst/>
          </a:prstGeom>
          <a:ln w="25400">
            <a:solidFill>
              <a:srgbClr val="D39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360920" y="1691640"/>
            <a:ext cx="2057400" cy="233172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D39A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91440" bIns="73152"/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163247"/>
                </a:solidFill>
                <a:latin typeface="Microsoft YaHei"/>
              </a:rPr>
              <a:t>④ 来源核对</a:t>
            </a:r>
          </a:p>
          <a:p>
            <a:pPr algn="l">
              <a:spcAft>
                <a:spcPts val="200"/>
              </a:spcAft>
            </a:pPr>
            <a:r>
              <a:rPr sz="1400">
                <a:solidFill>
                  <a:srgbClr val="263642"/>
                </a:solidFill>
                <a:latin typeface="Microsoft YaHei"/>
              </a:rPr>
              <a:t>引用摘录</a:t>
            </a:r>
          </a:p>
          <a:p>
            <a:pPr algn="l">
              <a:spcAft>
                <a:spcPts val="200"/>
              </a:spcAft>
            </a:pPr>
            <a:r>
              <a:rPr sz="1400">
                <a:solidFill>
                  <a:srgbClr val="263642"/>
                </a:solidFill>
                <a:latin typeface="Microsoft YaHei"/>
              </a:rPr>
              <a:t>打开原 PDF 页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9445752" y="2788920"/>
            <a:ext cx="128016" cy="0"/>
          </a:xfrm>
          <a:prstGeom prst="line">
            <a:avLst/>
          </a:prstGeom>
          <a:ln w="25400">
            <a:solidFill>
              <a:srgbClr val="D39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9646920" y="1691640"/>
            <a:ext cx="2057400" cy="2331720"/>
          </a:xfrm>
          <a:prstGeom prst="roundRect">
            <a:avLst/>
          </a:prstGeom>
          <a:solidFill>
            <a:srgbClr val="E4F1E9"/>
          </a:solidFill>
          <a:ln w="13970">
            <a:solidFill>
              <a:srgbClr val="2673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91440" bIns="73152"/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26734E"/>
                </a:solidFill>
                <a:latin typeface="Microsoft YaHei"/>
              </a:rPr>
              <a:t>⑤ 教学反馈</a:t>
            </a:r>
          </a:p>
          <a:p>
            <a:pPr algn="l">
              <a:spcAft>
                <a:spcPts val="200"/>
              </a:spcAft>
            </a:pPr>
            <a:r>
              <a:rPr sz="1400">
                <a:solidFill>
                  <a:srgbClr val="263642"/>
                </a:solidFill>
                <a:latin typeface="Microsoft YaHei"/>
              </a:rPr>
              <a:t>高频问句</a:t>
            </a:r>
          </a:p>
          <a:p>
            <a:pPr algn="l">
              <a:spcAft>
                <a:spcPts val="200"/>
              </a:spcAft>
            </a:pPr>
            <a:r>
              <a:rPr sz="1400">
                <a:solidFill>
                  <a:srgbClr val="263642"/>
                </a:solidFill>
                <a:latin typeface="Microsoft YaHei"/>
              </a:rPr>
              <a:t>依据不足线索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43400"/>
            <a:ext cx="10881360" cy="123444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D6E0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4526280"/>
            <a:ext cx="1828800" cy="310896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247D78"/>
                </a:solidFill>
                <a:latin typeface="Microsoft YaHei"/>
              </a:rPr>
              <a:t>三角色分工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4937760"/>
            <a:ext cx="10332720" cy="4114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0">
                <a:solidFill>
                  <a:srgbClr val="263642"/>
                </a:solidFill>
                <a:latin typeface="Microsoft YaHei"/>
              </a:rPr>
              <a:t>管理员：账号与课程、成员授权　｜　教师：本课资料状态与基础反馈　｜　学生：我的课程 → 提问 → 查看引用 → 回原页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0972800" cy="4754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3247"/>
                </a:solidFill>
                <a:latin typeface="Microsoft YaHei"/>
              </a:rPr>
              <a:t>三项技术特色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32104"/>
            <a:ext cx="10881360" cy="36576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0">
                <a:solidFill>
                  <a:srgbClr val="61727D"/>
                </a:solidFill>
                <a:latin typeface="Microsoft YaHei"/>
              </a:rPr>
              <a:t>开题方案研究重点：资料可追溯、检索可对照、回答可核对（开源复用，不自造平台）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603504" y="1280160"/>
            <a:ext cx="658368" cy="41148"/>
          </a:xfrm>
          <a:prstGeom prst="rect">
            <a:avLst/>
          </a:prstGeom>
          <a:solidFill>
            <a:srgbClr val="D39A37"/>
          </a:solidFill>
          <a:ln w="2540">
            <a:solidFill>
              <a:srgbClr val="D39A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6510528"/>
            <a:ext cx="8686800" cy="1828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61727D"/>
                </a:solidFill>
                <a:latin typeface="Microsoft YaHei"/>
              </a:rPr>
              <a:t>高校课程知识库智能问答 · 中期进展（参考稿）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98480" y="6492240"/>
            <a:ext cx="868680" cy="20116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>
              <a:spcAft>
                <a:spcPts val="200"/>
              </a:spcAft>
            </a:pPr>
            <a:r>
              <a:rPr sz="900" b="0">
                <a:solidFill>
                  <a:srgbClr val="61727D"/>
                </a:solidFill>
                <a:latin typeface="Microsoft YaHei"/>
              </a:rPr>
              <a:t>04 / 10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45920"/>
            <a:ext cx="3520440" cy="3840480"/>
          </a:xfrm>
          <a:prstGeom prst="roundRect">
            <a:avLst/>
          </a:prstGeom>
          <a:solidFill>
            <a:srgbClr val="E4F2F0"/>
          </a:solidFill>
          <a:ln w="13970">
            <a:solidFill>
              <a:srgbClr val="247D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91440" bIns="73152"/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247D78"/>
                </a:solidFill>
                <a:latin typeface="Microsoft YaHei"/>
              </a:rPr>
              <a:t>① 可追溯的资料组织</a:t>
            </a:r>
          </a:p>
          <a:p>
            <a:pPr algn="l">
              <a:spcAft>
                <a:spcPts val="200"/>
              </a:spcAft>
            </a:pPr>
            <a:r>
              <a:rPr sz="1500">
                <a:solidFill>
                  <a:srgbClr val="263642"/>
                </a:solidFill>
                <a:latin typeface="Microsoft YaHei"/>
              </a:rPr>
              <a:t>PyMuPDF 原生文字提取</a:t>
            </a:r>
          </a:p>
          <a:p>
            <a:pPr algn="l">
              <a:spcAft>
                <a:spcPts val="200"/>
              </a:spcAft>
            </a:pPr>
            <a:r>
              <a:rPr sz="1500">
                <a:solidFill>
                  <a:srgbClr val="263642"/>
                </a:solidFill>
                <a:latin typeface="Microsoft YaHei"/>
              </a:rPr>
              <a:t>保留页码与逐页质量记录</a:t>
            </a:r>
          </a:p>
          <a:p>
            <a:pPr algn="l">
              <a:spcAft>
                <a:spcPts val="200"/>
              </a:spcAft>
            </a:pPr>
            <a:r>
              <a:rPr sz="1500">
                <a:solidFill>
                  <a:srgbClr val="263642"/>
                </a:solidFill>
                <a:latin typeface="Microsoft YaHei"/>
              </a:rPr>
              <a:t>空页 / 稀疏页 / 异常可登记</a:t>
            </a:r>
          </a:p>
          <a:p>
            <a:pPr algn="l">
              <a:spcAft>
                <a:spcPts val="200"/>
              </a:spcAft>
            </a:pPr>
            <a:r>
              <a:rPr sz="1500">
                <a:solidFill>
                  <a:srgbClr val="263642"/>
                </a:solidFill>
                <a:latin typeface="Microsoft YaHei"/>
              </a:rPr>
              <a:t>资料哈希、切分与索引版本可解释</a:t>
            </a:r>
          </a:p>
          <a:p>
            <a:pPr algn="l">
              <a:spcAft>
                <a:spcPts val="200"/>
              </a:spcAft>
            </a:pPr>
            <a:r>
              <a:rPr sz="1500">
                <a:solidFill>
                  <a:srgbClr val="263642"/>
                </a:solidFill>
                <a:latin typeface="Microsoft YaHei"/>
              </a:rPr>
              <a:t>Markdown / Chunk 是派生视图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43400" y="1645920"/>
            <a:ext cx="3520440" cy="384048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D6E0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91440" bIns="73152"/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D39A37"/>
                </a:solidFill>
                <a:latin typeface="Microsoft YaHei"/>
              </a:rPr>
              <a:t>② 课程内检索（可对照）</a:t>
            </a:r>
          </a:p>
          <a:p>
            <a:pPr algn="l">
              <a:spcAft>
                <a:spcPts val="200"/>
              </a:spcAft>
            </a:pPr>
            <a:r>
              <a:rPr sz="1500">
                <a:solidFill>
                  <a:srgbClr val="263642"/>
                </a:solidFill>
                <a:latin typeface="Microsoft YaHei"/>
              </a:rPr>
              <a:t>中期演示默认：Dense</a:t>
            </a:r>
          </a:p>
          <a:p>
            <a:pPr algn="l">
              <a:spcAft>
                <a:spcPts val="200"/>
              </a:spcAft>
            </a:pPr>
            <a:r>
              <a:rPr sz="1500">
                <a:solidFill>
                  <a:srgbClr val="263642"/>
                </a:solidFill>
                <a:latin typeface="Microsoft YaHei"/>
              </a:rPr>
              <a:t>Hybrid / BM25 / rerank</a:t>
            </a:r>
          </a:p>
          <a:p>
            <a:pPr algn="l">
              <a:spcAft>
                <a:spcPts val="200"/>
              </a:spcAft>
            </a:pPr>
            <a:r>
              <a:rPr sz="1500">
                <a:solidFill>
                  <a:srgbClr val="263642"/>
                </a:solidFill>
                <a:latin typeface="Microsoft YaHei"/>
              </a:rPr>
              <a:t>已实现、可开关</a:t>
            </a:r>
          </a:p>
          <a:p>
            <a:pPr algn="l">
              <a:spcAft>
                <a:spcPts val="200"/>
              </a:spcAft>
            </a:pPr>
            <a:r>
              <a:rPr sz="1500">
                <a:solidFill>
                  <a:srgbClr val="263642"/>
                </a:solidFill>
                <a:latin typeface="Microsoft YaHei"/>
              </a:rPr>
              <a:t>不作中期主结论</a:t>
            </a:r>
          </a:p>
          <a:p>
            <a:pPr algn="l">
              <a:spcAft>
                <a:spcPts val="200"/>
              </a:spcAft>
            </a:pPr>
            <a:r>
              <a:rPr sz="1500">
                <a:solidFill>
                  <a:srgbClr val="263642"/>
                </a:solidFill>
                <a:latin typeface="Microsoft YaHei"/>
              </a:rPr>
              <a:t>权限贯穿候选与缓存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645920"/>
            <a:ext cx="3520440" cy="3840480"/>
          </a:xfrm>
          <a:prstGeom prst="roundRect">
            <a:avLst/>
          </a:prstGeom>
          <a:solidFill>
            <a:srgbClr val="FBF0D8"/>
          </a:solidFill>
          <a:ln w="13970">
            <a:solidFill>
              <a:srgbClr val="D39A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91440" bIns="73152"/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D39A37"/>
                </a:solidFill>
                <a:latin typeface="Microsoft YaHei"/>
              </a:rPr>
              <a:t>③ 可核对的证据回答</a:t>
            </a:r>
          </a:p>
          <a:p>
            <a:pPr algn="l">
              <a:spcAft>
                <a:spcPts val="200"/>
              </a:spcAft>
            </a:pPr>
            <a:r>
              <a:rPr sz="1500">
                <a:solidFill>
                  <a:srgbClr val="263642"/>
                </a:solidFill>
                <a:latin typeface="Microsoft YaHei"/>
              </a:rPr>
              <a:t>只引用实际送入上下文的来源</a:t>
            </a:r>
          </a:p>
          <a:p>
            <a:pPr algn="l">
              <a:spcAft>
                <a:spcPts val="200"/>
              </a:spcAft>
            </a:pPr>
            <a:r>
              <a:rPr sz="1500">
                <a:solidFill>
                  <a:srgbClr val="263642"/>
                </a:solidFill>
                <a:latin typeface="Microsoft YaHei"/>
              </a:rPr>
              <a:t>区分有据回答 / 依据不足 / 失败</a:t>
            </a:r>
          </a:p>
          <a:p>
            <a:pPr algn="l">
              <a:spcAft>
                <a:spcPts val="200"/>
              </a:spcAft>
            </a:pPr>
            <a:r>
              <a:rPr sz="1500">
                <a:solidFill>
                  <a:srgbClr val="263642"/>
                </a:solidFill>
                <a:latin typeface="Microsoft YaHei"/>
              </a:rPr>
              <a:t>学生可打开原 PDF #page=</a:t>
            </a:r>
          </a:p>
          <a:p>
            <a:pPr algn="l">
              <a:spcAft>
                <a:spcPts val="200"/>
              </a:spcAft>
            </a:pPr>
            <a:r>
              <a:rPr sz="1500">
                <a:solidFill>
                  <a:srgbClr val="263642"/>
                </a:solidFill>
                <a:latin typeface="Microsoft YaHei"/>
              </a:rPr>
              <a:t>合法引用 ≠ 事实主张被支持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0972800" cy="4754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3247"/>
                </a:solidFill>
                <a:latin typeface="Microsoft YaHei"/>
              </a:rPr>
              <a:t>系统链路与技术栈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32104"/>
            <a:ext cx="10881360" cy="36576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0">
                <a:solidFill>
                  <a:srgbClr val="61727D"/>
                </a:solidFill>
                <a:latin typeface="Microsoft YaHei"/>
              </a:rPr>
              <a:t>复用成熟组件；本地实现课程边界、来源映射与失败状态</a:t>
            </a:r>
          </a:p>
        </p:txBody>
      </p:sp>
      <p:sp>
        <p:nvSpPr>
          <p:cNvPr id="4" name="Rectangle 3"/>
          <p:cNvSpPr/>
          <p:nvPr/>
        </p:nvSpPr>
        <p:spPr>
          <a:xfrm>
            <a:off x="603504" y="1280160"/>
            <a:ext cx="658368" cy="41148"/>
          </a:xfrm>
          <a:prstGeom prst="rect">
            <a:avLst/>
          </a:prstGeom>
          <a:solidFill>
            <a:srgbClr val="D39A37"/>
          </a:solidFill>
          <a:ln w="2540">
            <a:solidFill>
              <a:srgbClr val="D39A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6510528"/>
            <a:ext cx="8686800" cy="1828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61727D"/>
                </a:solidFill>
                <a:latin typeface="Microsoft YaHei"/>
              </a:rPr>
              <a:t>高校课程知识库智能问答 · 中期进展（参考稿）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98480" y="6492240"/>
            <a:ext cx="868680" cy="20116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>
              <a:spcAft>
                <a:spcPts val="200"/>
              </a:spcAft>
            </a:pPr>
            <a:r>
              <a:rPr sz="900" b="0">
                <a:solidFill>
                  <a:srgbClr val="61727D"/>
                </a:solidFill>
                <a:latin typeface="Microsoft YaHei"/>
              </a:rPr>
              <a:t>05 / 10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691640"/>
            <a:ext cx="1691640" cy="1417320"/>
          </a:xfrm>
          <a:prstGeom prst="roundRect">
            <a:avLst/>
          </a:prstGeom>
          <a:solidFill>
            <a:srgbClr val="E4F2F0"/>
          </a:solidFill>
          <a:ln w="13970">
            <a:solidFill>
              <a:srgbClr val="247D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76072" y="1828800"/>
            <a:ext cx="1554480" cy="34747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500" b="1">
                <a:solidFill>
                  <a:srgbClr val="163247"/>
                </a:solidFill>
                <a:latin typeface="Microsoft YaHei"/>
              </a:rPr>
              <a:t>课程 PDF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72" y="2240280"/>
            <a:ext cx="1554480" cy="6400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0">
                <a:solidFill>
                  <a:srgbClr val="61727D"/>
                </a:solidFill>
                <a:latin typeface="Microsoft YaHei"/>
              </a:rPr>
              <a:t>原始文件</a:t>
            </a:r>
          </a:p>
          <a:p>
            <a:pPr algn="ctr">
              <a:spcAft>
                <a:spcPts val="200"/>
              </a:spcAft>
            </a:pPr>
            <a:r>
              <a:rPr sz="1200" b="0">
                <a:solidFill>
                  <a:srgbClr val="61727D"/>
                </a:solidFill>
                <a:latin typeface="Microsoft YaHei"/>
              </a:rPr>
              <a:t>课程隔离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221991" y="2377440"/>
            <a:ext cx="201169" cy="0"/>
          </a:xfrm>
          <a:prstGeom prst="line">
            <a:avLst/>
          </a:prstGeom>
          <a:ln w="22860">
            <a:solidFill>
              <a:srgbClr val="247D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2468880" y="1691640"/>
            <a:ext cx="1691640" cy="141732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247D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42032" y="1828800"/>
            <a:ext cx="1554480" cy="34747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500" b="1">
                <a:solidFill>
                  <a:srgbClr val="163247"/>
                </a:solidFill>
                <a:latin typeface="Microsoft YaHei"/>
              </a:rPr>
              <a:t>解析质检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42032" y="2240280"/>
            <a:ext cx="1554480" cy="6400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0">
                <a:solidFill>
                  <a:srgbClr val="61727D"/>
                </a:solidFill>
                <a:latin typeface="Microsoft YaHei"/>
              </a:rPr>
              <a:t>PyMuPDF</a:t>
            </a:r>
          </a:p>
          <a:p>
            <a:pPr algn="ctr">
              <a:spcAft>
                <a:spcPts val="200"/>
              </a:spcAft>
            </a:pPr>
            <a:r>
              <a:rPr sz="1200" b="0">
                <a:solidFill>
                  <a:srgbClr val="61727D"/>
                </a:solidFill>
                <a:latin typeface="Microsoft YaHei"/>
              </a:rPr>
              <a:t>页级门禁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4187952" y="2377440"/>
            <a:ext cx="201168" cy="0"/>
          </a:xfrm>
          <a:prstGeom prst="line">
            <a:avLst/>
          </a:prstGeom>
          <a:ln w="22860">
            <a:solidFill>
              <a:srgbClr val="247D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4434840" y="1691640"/>
            <a:ext cx="1691640" cy="141732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247D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07992" y="1828800"/>
            <a:ext cx="1554480" cy="34747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500" b="1">
                <a:solidFill>
                  <a:srgbClr val="163247"/>
                </a:solidFill>
                <a:latin typeface="Microsoft YaHei"/>
              </a:rPr>
              <a:t>切分索引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07992" y="2240280"/>
            <a:ext cx="1554480" cy="6400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0">
                <a:solidFill>
                  <a:srgbClr val="61727D"/>
                </a:solidFill>
                <a:latin typeface="Microsoft YaHei"/>
              </a:rPr>
              <a:t>语义切分</a:t>
            </a:r>
          </a:p>
          <a:p>
            <a:pPr algn="ctr">
              <a:spcAft>
                <a:spcPts val="200"/>
              </a:spcAft>
            </a:pPr>
            <a:r>
              <a:rPr sz="1200" b="0">
                <a:solidFill>
                  <a:srgbClr val="61727D"/>
                </a:solidFill>
                <a:latin typeface="Microsoft YaHei"/>
              </a:rPr>
              <a:t>BGE-M3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153912" y="2377440"/>
            <a:ext cx="201168" cy="0"/>
          </a:xfrm>
          <a:prstGeom prst="line">
            <a:avLst/>
          </a:prstGeom>
          <a:ln w="22860">
            <a:solidFill>
              <a:srgbClr val="247D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6400800" y="1691640"/>
            <a:ext cx="1691640" cy="141732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247D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73952" y="1828800"/>
            <a:ext cx="1554480" cy="34747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500" b="1">
                <a:solidFill>
                  <a:srgbClr val="163247"/>
                </a:solidFill>
                <a:latin typeface="Microsoft YaHei"/>
              </a:rPr>
              <a:t>检索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73952" y="2240280"/>
            <a:ext cx="1554480" cy="6400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0">
                <a:solidFill>
                  <a:srgbClr val="61727D"/>
                </a:solidFill>
                <a:latin typeface="Microsoft YaHei"/>
              </a:rPr>
              <a:t>默认 Dense</a:t>
            </a:r>
          </a:p>
          <a:p>
            <a:pPr algn="ctr">
              <a:spcAft>
                <a:spcPts val="200"/>
              </a:spcAft>
            </a:pPr>
            <a:r>
              <a:rPr sz="1200" b="0">
                <a:solidFill>
                  <a:srgbClr val="61727D"/>
                </a:solidFill>
                <a:latin typeface="Microsoft YaHei"/>
              </a:rPr>
              <a:t>可选 Hybrid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8119871" y="2377440"/>
            <a:ext cx="201169" cy="0"/>
          </a:xfrm>
          <a:prstGeom prst="line">
            <a:avLst/>
          </a:prstGeom>
          <a:ln w="22860">
            <a:solidFill>
              <a:srgbClr val="D39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8366760" y="1691640"/>
            <a:ext cx="1691640" cy="1417320"/>
          </a:xfrm>
          <a:prstGeom prst="roundRect">
            <a:avLst/>
          </a:prstGeom>
          <a:solidFill>
            <a:srgbClr val="FBF0D8"/>
          </a:solidFill>
          <a:ln w="13970">
            <a:solidFill>
              <a:srgbClr val="D39A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439912" y="1828800"/>
            <a:ext cx="1554480" cy="34747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500" b="1">
                <a:solidFill>
                  <a:srgbClr val="163247"/>
                </a:solidFill>
                <a:latin typeface="Microsoft YaHei"/>
              </a:rPr>
              <a:t>生成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39912" y="2240280"/>
            <a:ext cx="1554480" cy="6400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0">
                <a:solidFill>
                  <a:srgbClr val="61727D"/>
                </a:solidFill>
                <a:latin typeface="Microsoft YaHei"/>
              </a:rPr>
              <a:t>DeepSeek</a:t>
            </a:r>
          </a:p>
          <a:p>
            <a:pPr algn="ctr">
              <a:spcAft>
                <a:spcPts val="200"/>
              </a:spcAft>
            </a:pPr>
            <a:r>
              <a:rPr sz="1200" b="0">
                <a:solidFill>
                  <a:srgbClr val="61727D"/>
                </a:solidFill>
                <a:latin typeface="Microsoft YaHei"/>
              </a:rPr>
              <a:t>deepseek-flash</a:t>
            </a:r>
          </a:p>
        </p:txBody>
      </p:sp>
      <p:cxnSp>
        <p:nvCxnSpPr>
          <p:cNvPr id="26" name="Connector 25"/>
          <p:cNvCxnSpPr/>
          <p:nvPr/>
        </p:nvCxnSpPr>
        <p:spPr>
          <a:xfrm flipH="1">
            <a:off x="10058400" y="2377440"/>
            <a:ext cx="27432" cy="0"/>
          </a:xfrm>
          <a:prstGeom prst="line">
            <a:avLst/>
          </a:prstGeom>
          <a:ln w="22860">
            <a:solidFill>
              <a:srgbClr val="D39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10104120" y="1691640"/>
            <a:ext cx="1691640" cy="1417320"/>
          </a:xfrm>
          <a:prstGeom prst="roundRect">
            <a:avLst/>
          </a:prstGeom>
          <a:solidFill>
            <a:srgbClr val="163247"/>
          </a:solidFill>
          <a:ln w="13970">
            <a:solidFill>
              <a:srgbClr val="1632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177272" y="1828800"/>
            <a:ext cx="1554480" cy="34747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Microsoft YaHei"/>
              </a:rPr>
              <a:t>学生答案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177272" y="2240280"/>
            <a:ext cx="1554480" cy="6400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0">
                <a:solidFill>
                  <a:srgbClr val="FFFFFF"/>
                </a:solidFill>
                <a:latin typeface="Microsoft YaHei"/>
              </a:rPr>
              <a:t>回答/引用</a:t>
            </a:r>
          </a:p>
          <a:p>
            <a:pPr algn="ctr">
              <a:spcAft>
                <a:spcPts val="200"/>
              </a:spcAft>
            </a:pPr>
            <a:r>
              <a:rPr sz="1200" b="0">
                <a:solidFill>
                  <a:srgbClr val="FFFFFF"/>
                </a:solidFill>
                <a:latin typeface="Microsoft YaHei"/>
              </a:rPr>
              <a:t>依据不足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40080" y="3429000"/>
            <a:ext cx="10881360" cy="214884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D6E0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68680" y="3611880"/>
            <a:ext cx="1828800" cy="310896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247D78"/>
                </a:solidFill>
                <a:latin typeface="Microsoft YaHei"/>
              </a:rPr>
              <a:t>应用层栈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8680" y="4023360"/>
            <a:ext cx="10332720" cy="32918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0">
                <a:solidFill>
                  <a:srgbClr val="263642"/>
                </a:solidFill>
                <a:latin typeface="Microsoft YaHei"/>
              </a:rPr>
              <a:t>FastAPI + PostgreSQL/pgvector + Vue 3 · Cookie Session · admin / teacher / student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68680" y="4434840"/>
            <a:ext cx="10332720" cy="32918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0">
                <a:solidFill>
                  <a:srgbClr val="263642"/>
                </a:solidFill>
                <a:latin typeface="Microsoft YaHei"/>
              </a:rPr>
              <a:t>Embedding：SiliconFlow BAAI/bge-m3　｜　生成：DeepSeek（deepseek-flash，关闭 thinking）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68680" y="4892040"/>
            <a:ext cx="10332720" cy="36576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D39A37"/>
                </a:solidFill>
                <a:latin typeface="Microsoft YaHei"/>
              </a:rPr>
              <a:t>中期演示默认 Dense；Hybrid/BM25/rerank 已实现可开关，不作中期主结论。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0972800" cy="4754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3247"/>
                </a:solidFill>
                <a:latin typeface="Microsoft YaHei"/>
              </a:rPr>
              <a:t>中文四课中期证据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32104"/>
            <a:ext cx="10881360" cy="36576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0">
                <a:solidFill>
                  <a:srgbClr val="61727D"/>
                </a:solidFill>
                <a:latin typeface="Microsoft YaHei"/>
              </a:rPr>
              <a:t>正式演示库 univ_course_rag_cn_v2；弱规则验收 + 彩排 PASS，不是人工事实正确率</a:t>
            </a:r>
          </a:p>
        </p:txBody>
      </p:sp>
      <p:sp>
        <p:nvSpPr>
          <p:cNvPr id="4" name="Rectangle 3"/>
          <p:cNvSpPr/>
          <p:nvPr/>
        </p:nvSpPr>
        <p:spPr>
          <a:xfrm>
            <a:off x="603504" y="1280160"/>
            <a:ext cx="658368" cy="41148"/>
          </a:xfrm>
          <a:prstGeom prst="rect">
            <a:avLst/>
          </a:prstGeom>
          <a:solidFill>
            <a:srgbClr val="D39A37"/>
          </a:solidFill>
          <a:ln w="2540">
            <a:solidFill>
              <a:srgbClr val="D39A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6510528"/>
            <a:ext cx="8686800" cy="1828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61727D"/>
                </a:solidFill>
                <a:latin typeface="Microsoft YaHei"/>
              </a:rPr>
              <a:t>高校课程知识库智能问答 · 中期进展（参考稿）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98480" y="6492240"/>
            <a:ext cx="868680" cy="20116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>
              <a:spcAft>
                <a:spcPts val="200"/>
              </a:spcAft>
            </a:pPr>
            <a:r>
              <a:rPr sz="900" b="0">
                <a:solidFill>
                  <a:srgbClr val="61727D"/>
                </a:solidFill>
                <a:latin typeface="Microsoft YaHei"/>
              </a:rPr>
              <a:t>06 / 10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00200"/>
            <a:ext cx="2468880" cy="1024128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D6E0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1" y="1691640"/>
            <a:ext cx="2322576" cy="4572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2600" b="1">
                <a:solidFill>
                  <a:srgbClr val="247D78"/>
                </a:solidFill>
                <a:latin typeface="Microsoft YaHei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1" y="2185416"/>
            <a:ext cx="2322576" cy="2743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300" b="0">
                <a:solidFill>
                  <a:srgbClr val="61727D"/>
                </a:solidFill>
                <a:latin typeface="Microsoft YaHei"/>
              </a:rPr>
              <a:t>门课程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91840" y="1600200"/>
            <a:ext cx="2468880" cy="1024128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D6E0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64992" y="1691640"/>
            <a:ext cx="2322576" cy="4572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2600" b="1">
                <a:solidFill>
                  <a:srgbClr val="D39A37"/>
                </a:solidFill>
                <a:latin typeface="Microsoft YaHei"/>
              </a:rPr>
              <a:t>27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64992" y="2185416"/>
            <a:ext cx="2322576" cy="2743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300" b="0">
                <a:solidFill>
                  <a:srgbClr val="61727D"/>
                </a:solidFill>
                <a:latin typeface="Microsoft YaHei"/>
              </a:rPr>
              <a:t>份 PDF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3600" y="1600200"/>
            <a:ext cx="2468880" cy="1024128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D6E0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16752" y="1691640"/>
            <a:ext cx="2322576" cy="4572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2600" b="1">
                <a:solidFill>
                  <a:srgbClr val="26734E"/>
                </a:solidFill>
                <a:latin typeface="Microsoft YaHei"/>
              </a:rPr>
              <a:t>2501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16752" y="2185416"/>
            <a:ext cx="2322576" cy="2743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300" b="0">
                <a:solidFill>
                  <a:srgbClr val="61727D"/>
                </a:solidFill>
                <a:latin typeface="Microsoft YaHei"/>
              </a:rPr>
              <a:t>chunks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595360" y="1600200"/>
            <a:ext cx="2651760" cy="1024128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D6E0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68512" y="1691640"/>
            <a:ext cx="2505456" cy="4572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2600" b="1">
                <a:solidFill>
                  <a:srgbClr val="163247"/>
                </a:solidFill>
                <a:latin typeface="Microsoft YaHei"/>
              </a:rPr>
              <a:t>cn_v2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68512" y="2185416"/>
            <a:ext cx="2505456" cy="2743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300" b="0">
                <a:solidFill>
                  <a:srgbClr val="61727D"/>
                </a:solidFill>
                <a:latin typeface="Microsoft YaHei"/>
              </a:rPr>
              <a:t>演示库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2926080"/>
            <a:ext cx="5394960" cy="233172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D6E0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91440" bIns="73152"/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247D78"/>
                </a:solidFill>
                <a:latin typeface="Microsoft YaHei"/>
              </a:rPr>
              <a:t>课程与验收口径</a:t>
            </a:r>
          </a:p>
          <a:p>
            <a:pPr algn="l">
              <a:spcAft>
                <a:spcPts val="200"/>
              </a:spcAft>
            </a:pPr>
            <a:r>
              <a:rPr sz="1400">
                <a:solidFill>
                  <a:srgbClr val="263642"/>
                </a:solidFill>
                <a:latin typeface="Microsoft YaHei"/>
              </a:rPr>
              <a:t>线性代数 · 概率论与统计学</a:t>
            </a:r>
          </a:p>
          <a:p>
            <a:pPr algn="l">
              <a:spcAft>
                <a:spcPts val="200"/>
              </a:spcAft>
            </a:pPr>
            <a:r>
              <a:rPr sz="1400">
                <a:solidFill>
                  <a:srgbClr val="263642"/>
                </a:solidFill>
                <a:latin typeface="Microsoft YaHei"/>
              </a:rPr>
              <a:t>人力资源管理 · 教育学原理</a:t>
            </a:r>
          </a:p>
          <a:p>
            <a:pPr algn="l">
              <a:spcAft>
                <a:spcPts val="200"/>
              </a:spcAft>
            </a:pPr>
            <a:r>
              <a:rPr sz="1400">
                <a:solidFill>
                  <a:srgbClr val="263642"/>
                </a:solidFill>
                <a:latin typeface="Microsoft YaHei"/>
              </a:rPr>
              <a:t>弱规则：可答题预期文档/页 12/12</a:t>
            </a:r>
          </a:p>
          <a:p>
            <a:pPr algn="l">
              <a:spcAft>
                <a:spcPts val="200"/>
              </a:spcAft>
            </a:pPr>
            <a:r>
              <a:rPr sz="1400">
                <a:solidFill>
                  <a:srgbClr val="263642"/>
                </a:solidFill>
                <a:latin typeface="Microsoft YaHei"/>
              </a:rPr>
              <a:t>预期拒答 4/4 · 阈值 0.45（未校准）</a:t>
            </a:r>
          </a:p>
          <a:p>
            <a:pPr algn="l">
              <a:spcAft>
                <a:spcPts val="200"/>
              </a:spcAft>
            </a:pPr>
            <a:r>
              <a:rPr sz="1400">
                <a:solidFill>
                  <a:srgbClr val="263642"/>
                </a:solidFill>
                <a:latin typeface="Microsoft YaHei"/>
              </a:rPr>
              <a:t>题集 AI 预标，未经独立人工复核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2926080"/>
            <a:ext cx="5257800" cy="2331720"/>
          </a:xfrm>
          <a:prstGeom prst="roundRect">
            <a:avLst/>
          </a:prstGeom>
          <a:solidFill>
            <a:srgbClr val="FBF0D8"/>
          </a:solidFill>
          <a:ln w="13970">
            <a:solidFill>
              <a:srgbClr val="D39A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91440" bIns="73152"/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D39A37"/>
                </a:solidFill>
                <a:latin typeface="Microsoft YaHei"/>
              </a:rPr>
              <a:t>演示检索与模型</a:t>
            </a:r>
          </a:p>
          <a:p>
            <a:pPr algn="l">
              <a:spcAft>
                <a:spcPts val="200"/>
              </a:spcAft>
            </a:pPr>
            <a:r>
              <a:rPr sz="1400">
                <a:solidFill>
                  <a:srgbClr val="263642"/>
                </a:solidFill>
                <a:latin typeface="Microsoft YaHei"/>
              </a:rPr>
              <a:t>默认 Dense + 可选查询扩展</a:t>
            </a:r>
          </a:p>
          <a:p>
            <a:pPr algn="l">
              <a:spcAft>
                <a:spcPts val="200"/>
              </a:spcAft>
            </a:pPr>
            <a:r>
              <a:rPr sz="1400">
                <a:solidFill>
                  <a:srgbClr val="263642"/>
                </a:solidFill>
                <a:latin typeface="Microsoft YaHei"/>
              </a:rPr>
              <a:t>rerank 演示关闭</a:t>
            </a:r>
          </a:p>
          <a:p>
            <a:pPr algn="l">
              <a:spcAft>
                <a:spcPts val="200"/>
              </a:spcAft>
            </a:pPr>
            <a:r>
              <a:rPr sz="1400">
                <a:solidFill>
                  <a:srgbClr val="263642"/>
                </a:solidFill>
                <a:latin typeface="Microsoft YaHei"/>
              </a:rPr>
              <a:t>生成：DeepSeek（deepseek-flash）</a:t>
            </a:r>
          </a:p>
          <a:p>
            <a:pPr algn="l">
              <a:spcAft>
                <a:spcPts val="200"/>
              </a:spcAft>
            </a:pPr>
            <a:r>
              <a:rPr sz="1400">
                <a:solidFill>
                  <a:srgbClr val="263642"/>
                </a:solidFill>
                <a:latin typeface="Microsoft YaHei"/>
              </a:rPr>
              <a:t>Embedding：BGE-M3</a:t>
            </a:r>
          </a:p>
          <a:p>
            <a:pPr algn="l">
              <a:spcAft>
                <a:spcPts val="200"/>
              </a:spcAft>
            </a:pPr>
            <a:r>
              <a:rPr sz="1400">
                <a:solidFill>
                  <a:srgbClr val="263642"/>
                </a:solidFill>
                <a:latin typeface="Microsoft YaHei"/>
              </a:rPr>
              <a:t>证据目录：中期答辩材料/彩排截图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0972800" cy="4754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3247"/>
                </a:solidFill>
                <a:latin typeface="Microsoft YaHei"/>
              </a:rPr>
              <a:t>演示路径：固定问句与引用回页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32104"/>
            <a:ext cx="10881360" cy="36576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0">
                <a:solidFill>
                  <a:srgbClr val="61727D"/>
                </a:solidFill>
                <a:latin typeface="Microsoft YaHei"/>
              </a:rPr>
              <a:t>线性代数 LA-01 有引用；LA-R 依据不足；截图见中期答辩材料/彩排截图</a:t>
            </a:r>
          </a:p>
        </p:txBody>
      </p:sp>
      <p:sp>
        <p:nvSpPr>
          <p:cNvPr id="4" name="Rectangle 3"/>
          <p:cNvSpPr/>
          <p:nvPr/>
        </p:nvSpPr>
        <p:spPr>
          <a:xfrm>
            <a:off x="603504" y="1280160"/>
            <a:ext cx="658368" cy="41148"/>
          </a:xfrm>
          <a:prstGeom prst="rect">
            <a:avLst/>
          </a:prstGeom>
          <a:solidFill>
            <a:srgbClr val="D39A37"/>
          </a:solidFill>
          <a:ln w="2540">
            <a:solidFill>
              <a:srgbClr val="D39A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6510528"/>
            <a:ext cx="8686800" cy="1828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61727D"/>
                </a:solidFill>
                <a:latin typeface="Microsoft YaHei"/>
              </a:rPr>
              <a:t>高校课程知识库智能问答 · 中期进展（参考稿）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98480" y="6492240"/>
            <a:ext cx="868680" cy="20116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>
              <a:spcAft>
                <a:spcPts val="200"/>
              </a:spcAft>
            </a:pPr>
            <a:r>
              <a:rPr sz="900" b="0">
                <a:solidFill>
                  <a:srgbClr val="61727D"/>
                </a:solidFill>
                <a:latin typeface="Microsoft YaHei"/>
              </a:rPr>
              <a:t>07 / 10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360" y="1554480"/>
            <a:ext cx="5074920" cy="306324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D6E0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student-ask-focu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0043" y="1645920"/>
            <a:ext cx="3752697" cy="26060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31520" y="4297680"/>
            <a:ext cx="4754880" cy="2286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300" b="1">
                <a:solidFill>
                  <a:srgbClr val="163247"/>
                </a:solidFill>
                <a:latin typeface="Microsoft YaHei"/>
              </a:rPr>
              <a:t>LA-01：回答与引用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1554480"/>
            <a:ext cx="5074920" cy="306324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D6E0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student-shelf-focu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20763" y="1645920"/>
            <a:ext cx="3752697" cy="260604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492240" y="4297680"/>
            <a:ext cx="4754880" cy="2286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300" b="1">
                <a:solidFill>
                  <a:srgbClr val="163247"/>
                </a:solidFill>
                <a:latin typeface="Microsoft YaHei"/>
              </a:rPr>
              <a:t>学生书架：中文四课入口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4754880"/>
            <a:ext cx="2651760" cy="347472"/>
          </a:xfrm>
          <a:prstGeom prst="roundRect">
            <a:avLst/>
          </a:prstGeom>
          <a:solidFill>
            <a:srgbClr val="E4F1E9"/>
          </a:solidFill>
          <a:ln w="6350">
            <a:solidFill>
              <a:srgbClr val="E4F1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4768596"/>
            <a:ext cx="2560320" cy="310896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26734E"/>
                </a:solidFill>
                <a:latin typeface="Microsoft YaHei"/>
              </a:rPr>
              <a:t>LA-01 有引用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474720" y="4754880"/>
            <a:ext cx="2651760" cy="347472"/>
          </a:xfrm>
          <a:prstGeom prst="roundRect">
            <a:avLst/>
          </a:prstGeom>
          <a:solidFill>
            <a:srgbClr val="FBF0D8"/>
          </a:solidFill>
          <a:ln w="6350">
            <a:solidFill>
              <a:srgbClr val="FBF0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20439" y="4768596"/>
            <a:ext cx="2560320" cy="310896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D39A37"/>
                </a:solidFill>
                <a:latin typeface="Microsoft YaHei"/>
              </a:rPr>
              <a:t>LA-R 依据不足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09360" y="4754880"/>
            <a:ext cx="2468880" cy="347472"/>
          </a:xfrm>
          <a:prstGeom prst="roundRect">
            <a:avLst/>
          </a:prstGeom>
          <a:solidFill>
            <a:srgbClr val="E4F2F0"/>
          </a:solidFill>
          <a:ln w="6350">
            <a:solidFill>
              <a:srgbClr val="E4F2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55080" y="4768596"/>
            <a:ext cx="2377440" cy="310896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247D78"/>
                </a:solidFill>
                <a:latin typeface="Microsoft YaHei"/>
              </a:rPr>
              <a:t>打开 #page=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961120" y="4754880"/>
            <a:ext cx="2468880" cy="347472"/>
          </a:xfrm>
          <a:prstGeom prst="roundRect">
            <a:avLst/>
          </a:prstGeom>
          <a:solidFill>
            <a:srgbClr val="E4F1E9"/>
          </a:solidFill>
          <a:ln w="6350">
            <a:solidFill>
              <a:srgbClr val="E4F1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06840" y="4768596"/>
            <a:ext cx="2377440" cy="310896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26734E"/>
                </a:solidFill>
                <a:latin typeface="Microsoft YaHei"/>
              </a:rPr>
              <a:t>三角色可走通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5394960"/>
            <a:ext cx="10515600" cy="29260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0">
                <a:solidFill>
                  <a:srgbClr val="61727D"/>
                </a:solidFill>
                <a:latin typeface="Microsoft YaHei"/>
              </a:rPr>
              <a:t>固定问句与顺序见 docs/中期演示运行卡.md；证据截图：中期答辩材料/彩排截图/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0972800" cy="4754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3247"/>
                </a:solidFill>
                <a:latin typeface="Microsoft YaHei"/>
              </a:rPr>
              <a:t>教学反馈：辅助闭环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32104"/>
            <a:ext cx="10881360" cy="36576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0">
                <a:solidFill>
                  <a:srgbClr val="61727D"/>
                </a:solidFill>
                <a:latin typeface="Microsoft YaHei"/>
              </a:rPr>
              <a:t>把重复提问与依据不足整理成教师可核对的线索，不直接推断学生能力</a:t>
            </a:r>
          </a:p>
        </p:txBody>
      </p:sp>
      <p:sp>
        <p:nvSpPr>
          <p:cNvPr id="4" name="Rectangle 3"/>
          <p:cNvSpPr/>
          <p:nvPr/>
        </p:nvSpPr>
        <p:spPr>
          <a:xfrm>
            <a:off x="603504" y="1280160"/>
            <a:ext cx="658368" cy="41148"/>
          </a:xfrm>
          <a:prstGeom prst="rect">
            <a:avLst/>
          </a:prstGeom>
          <a:solidFill>
            <a:srgbClr val="D39A37"/>
          </a:solidFill>
          <a:ln w="2540">
            <a:solidFill>
              <a:srgbClr val="D39A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6510528"/>
            <a:ext cx="8686800" cy="1828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61727D"/>
                </a:solidFill>
                <a:latin typeface="Microsoft YaHei"/>
              </a:rPr>
              <a:t>高校课程知识库智能问答 · 中期进展（参考稿）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98480" y="6492240"/>
            <a:ext cx="868680" cy="20116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>
              <a:spcAft>
                <a:spcPts val="200"/>
              </a:spcAft>
            </a:pPr>
            <a:r>
              <a:rPr sz="900" b="0">
                <a:solidFill>
                  <a:srgbClr val="61727D"/>
                </a:solidFill>
                <a:latin typeface="Microsoft YaHei"/>
              </a:rPr>
              <a:t>08 / 10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45920"/>
            <a:ext cx="5394960" cy="3794760"/>
          </a:xfrm>
          <a:prstGeom prst="roundRect">
            <a:avLst/>
          </a:prstGeom>
          <a:solidFill>
            <a:srgbClr val="E4F2F0"/>
          </a:solidFill>
          <a:ln w="13970">
            <a:solidFill>
              <a:srgbClr val="247D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91440" bIns="73152"/>
          <a:lstStyle/>
          <a:p>
            <a:pPr algn="l">
              <a:spcAft>
                <a:spcPts val="600"/>
              </a:spcAft>
            </a:pPr>
            <a:r>
              <a:rPr sz="1900" b="1">
                <a:solidFill>
                  <a:srgbClr val="247D78"/>
                </a:solidFill>
                <a:latin typeface="Microsoft YaHei"/>
              </a:rPr>
              <a:t>中期已交付</a:t>
            </a:r>
          </a:p>
          <a:p>
            <a:pPr algn="l">
              <a:spcAft>
                <a:spcPts val="200"/>
              </a:spcAft>
            </a:pPr>
            <a:r>
              <a:rPr sz="1600">
                <a:solidFill>
                  <a:srgbClr val="263642"/>
                </a:solidFill>
                <a:latin typeface="Microsoft YaHei"/>
              </a:rPr>
              <a:t>• 规范化问句统计（本课高频）</a:t>
            </a:r>
          </a:p>
          <a:p>
            <a:pPr algn="l">
              <a:spcAft>
                <a:spcPts val="200"/>
              </a:spcAft>
            </a:pPr>
            <a:r>
              <a:rPr sz="1600">
                <a:solidFill>
                  <a:srgbClr val="263642"/>
                </a:solidFill>
                <a:latin typeface="Microsoft YaHei"/>
              </a:rPr>
              <a:t>• 依据不足问题列表</a:t>
            </a:r>
          </a:p>
          <a:p>
            <a:pPr algn="l">
              <a:spcAft>
                <a:spcPts val="200"/>
              </a:spcAft>
            </a:pPr>
            <a:r>
              <a:rPr sz="1600">
                <a:solidFill>
                  <a:srgbClr val="263642"/>
                </a:solidFill>
                <a:latin typeface="Microsoft YaHei"/>
              </a:rPr>
              <a:t>• 提问留存窗口</a:t>
            </a:r>
          </a:p>
          <a:p>
            <a:pPr algn="l">
              <a:spcAft>
                <a:spcPts val="200"/>
              </a:spcAft>
            </a:pPr>
            <a:r>
              <a:rPr sz="1600">
                <a:solidFill>
                  <a:srgbClr val="263642"/>
                </a:solidFill>
                <a:latin typeface="Microsoft YaHei"/>
              </a:rPr>
              <a:t>• 教师视图不展示学生身份</a:t>
            </a:r>
          </a:p>
          <a:p>
            <a:pPr algn="l">
              <a:spcAft>
                <a:spcPts val="200"/>
              </a:spcAft>
            </a:pPr>
            <a:r>
              <a:rPr sz="1600">
                <a:solidFill>
                  <a:srgbClr val="263642"/>
                </a:solidFill>
                <a:latin typeface="Microsoft YaHei"/>
              </a:rPr>
              <a:t>• 反馈是「待核对线索」，不是成绩画像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645920"/>
            <a:ext cx="5257800" cy="379476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D6E0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91440" bIns="73152"/>
          <a:lstStyle/>
          <a:p>
            <a:pPr algn="l">
              <a:spcAft>
                <a:spcPts val="600"/>
              </a:spcAft>
            </a:pPr>
            <a:r>
              <a:rPr sz="1900" b="1">
                <a:solidFill>
                  <a:srgbClr val="D39A37"/>
                </a:solidFill>
                <a:latin typeface="Microsoft YaHei"/>
              </a:rPr>
              <a:t>后续争取 / 诚实边界</a:t>
            </a:r>
          </a:p>
          <a:p>
            <a:pPr algn="l">
              <a:spcAft>
                <a:spcPts val="200"/>
              </a:spcAft>
            </a:pPr>
            <a:r>
              <a:rPr sz="1600">
                <a:solidFill>
                  <a:srgbClr val="263642"/>
                </a:solidFill>
                <a:latin typeface="Microsoft YaHei"/>
              </a:rPr>
              <a:t>• 小规模同义问题组（默认关闭）</a:t>
            </a:r>
          </a:p>
          <a:p>
            <a:pPr algn="l">
              <a:spcAft>
                <a:spcPts val="200"/>
              </a:spcAft>
            </a:pPr>
            <a:r>
              <a:rPr sz="1600">
                <a:solidFill>
                  <a:srgbClr val="263642"/>
                </a:solidFill>
                <a:latin typeface="Microsoft YaHei"/>
              </a:rPr>
              <a:t>• 阈值未校准，效果待真实条件验证</a:t>
            </a:r>
          </a:p>
          <a:p>
            <a:pPr algn="l">
              <a:spcAft>
                <a:spcPts val="200"/>
              </a:spcAft>
            </a:pPr>
            <a:r>
              <a:rPr sz="1600">
                <a:solidFill>
                  <a:srgbClr val="263642"/>
                </a:solidFill>
                <a:latin typeface="Microsoft YaHei"/>
              </a:rPr>
              <a:t>• 不据此宣称教学质量提升</a:t>
            </a:r>
          </a:p>
          <a:p>
            <a:pPr algn="l">
              <a:spcAft>
                <a:spcPts val="200"/>
              </a:spcAft>
            </a:pPr>
            <a:r>
              <a:rPr sz="1600">
                <a:solidFill>
                  <a:srgbClr val="263642"/>
                </a:solidFill>
                <a:latin typeface="Microsoft YaHei"/>
              </a:rPr>
              <a:t>• 与学生问答共用课程边界与留存策略</a:t>
            </a:r>
          </a:p>
          <a:p>
            <a:pPr algn="l">
              <a:spcAft>
                <a:spcPts val="200"/>
              </a:spcAft>
            </a:pPr>
            <a:r>
              <a:rPr sz="1600">
                <a:solidFill>
                  <a:srgbClr val="263642"/>
                </a:solidFill>
                <a:latin typeface="Microsoft YaHei"/>
              </a:rPr>
              <a:t>• 演示时可打开教师侧反馈入口一眼带过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0972800" cy="4754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3247"/>
                </a:solidFill>
                <a:latin typeface="Microsoft YaHei"/>
              </a:rPr>
              <a:t>诚实限制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32104"/>
            <a:ext cx="10881360" cy="36576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0">
                <a:solidFill>
                  <a:srgbClr val="61727D"/>
                </a:solidFill>
                <a:latin typeface="Microsoft YaHei"/>
              </a:rPr>
              <a:t>工程闭环与通用 RAG 质量是两回事；只陈述有证据的能力</a:t>
            </a:r>
          </a:p>
        </p:txBody>
      </p:sp>
      <p:sp>
        <p:nvSpPr>
          <p:cNvPr id="4" name="Rectangle 3"/>
          <p:cNvSpPr/>
          <p:nvPr/>
        </p:nvSpPr>
        <p:spPr>
          <a:xfrm>
            <a:off x="603504" y="1280160"/>
            <a:ext cx="658368" cy="41148"/>
          </a:xfrm>
          <a:prstGeom prst="rect">
            <a:avLst/>
          </a:prstGeom>
          <a:solidFill>
            <a:srgbClr val="D39A37"/>
          </a:solidFill>
          <a:ln w="2540">
            <a:solidFill>
              <a:srgbClr val="D39A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6510528"/>
            <a:ext cx="8686800" cy="1828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61727D"/>
                </a:solidFill>
                <a:latin typeface="Microsoft YaHei"/>
              </a:rPr>
              <a:t>高校课程知识库智能问答 · 中期进展（参考稿）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98480" y="6492240"/>
            <a:ext cx="868680" cy="20116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>
              <a:spcAft>
                <a:spcPts val="200"/>
              </a:spcAft>
            </a:pPr>
            <a:r>
              <a:rPr sz="900" b="0">
                <a:solidFill>
                  <a:srgbClr val="61727D"/>
                </a:solidFill>
                <a:latin typeface="Microsoft YaHei"/>
              </a:rPr>
              <a:t>09 / 10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45920"/>
            <a:ext cx="5394960" cy="3794760"/>
          </a:xfrm>
          <a:prstGeom prst="roundRect">
            <a:avLst/>
          </a:prstGeom>
          <a:solidFill>
            <a:srgbClr val="F9E7E5"/>
          </a:solidFill>
          <a:ln w="13970">
            <a:solidFill>
              <a:srgbClr val="B842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91440" bIns="73152"/>
          <a:lstStyle/>
          <a:p>
            <a:pPr algn="l">
              <a:spcAft>
                <a:spcPts val="600"/>
              </a:spcAft>
            </a:pPr>
            <a:r>
              <a:rPr sz="1900" b="1">
                <a:solidFill>
                  <a:srgbClr val="B84242"/>
                </a:solidFill>
                <a:latin typeface="Microsoft YaHei"/>
              </a:rPr>
              <a:t>评价口径</a:t>
            </a:r>
          </a:p>
          <a:p>
            <a:pPr algn="l">
              <a:spcAft>
                <a:spcPts val="200"/>
              </a:spcAft>
            </a:pPr>
            <a:r>
              <a:rPr sz="1600">
                <a:solidFill>
                  <a:srgbClr val="263642"/>
                </a:solidFill>
                <a:latin typeface="Microsoft YaHei"/>
              </a:rPr>
              <a:t>• 事实正确 ≠ 引用支持</a:t>
            </a:r>
          </a:p>
          <a:p>
            <a:pPr algn="l">
              <a:spcAft>
                <a:spcPts val="200"/>
              </a:spcAft>
            </a:pPr>
            <a:r>
              <a:rPr sz="1600">
                <a:solidFill>
                  <a:srgbClr val="263642"/>
                </a:solidFill>
                <a:latin typeface="Microsoft YaHei"/>
              </a:rPr>
              <a:t>• 12/12 与 4/4 是弱自动化规则</a:t>
            </a:r>
          </a:p>
          <a:p>
            <a:pPr algn="l">
              <a:spcAft>
                <a:spcPts val="200"/>
              </a:spcAft>
            </a:pPr>
            <a:r>
              <a:rPr sz="1600">
                <a:solidFill>
                  <a:srgbClr val="263642"/>
                </a:solidFill>
                <a:latin typeface="Microsoft YaHei"/>
              </a:rPr>
              <a:t>• AI 预标题集未经独立人工复核</a:t>
            </a:r>
          </a:p>
          <a:p>
            <a:pPr algn="l">
              <a:spcAft>
                <a:spcPts val="200"/>
              </a:spcAft>
            </a:pPr>
            <a:r>
              <a:rPr sz="1600">
                <a:solidFill>
                  <a:srgbClr val="263642"/>
                </a:solidFill>
                <a:latin typeface="Microsoft YaHei"/>
              </a:rPr>
              <a:t>• 余弦阈值 0.45 未校准</a:t>
            </a:r>
          </a:p>
          <a:p>
            <a:pPr algn="l">
              <a:spcAft>
                <a:spcPts val="200"/>
              </a:spcAft>
            </a:pPr>
            <a:r>
              <a:rPr sz="1600">
                <a:solidFill>
                  <a:srgbClr val="263642"/>
                </a:solidFill>
                <a:latin typeface="Microsoft YaHei"/>
              </a:rPr>
              <a:t>• Hybrid/rerank 不作中期主结论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645920"/>
            <a:ext cx="5257800" cy="3794760"/>
          </a:xfrm>
          <a:prstGeom prst="roundRect">
            <a:avLst/>
          </a:prstGeom>
          <a:solidFill>
            <a:srgbClr val="FBF0D8"/>
          </a:solidFill>
          <a:ln w="13970">
            <a:solidFill>
              <a:srgbClr val="D39A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91440" bIns="73152"/>
          <a:lstStyle/>
          <a:p>
            <a:pPr algn="l">
              <a:spcAft>
                <a:spcPts val="600"/>
              </a:spcAft>
            </a:pPr>
            <a:r>
              <a:rPr sz="1900" b="1">
                <a:solidFill>
                  <a:srgbClr val="D39A37"/>
                </a:solidFill>
                <a:latin typeface="Microsoft YaHei"/>
              </a:rPr>
              <a:t>能力与交付边界</a:t>
            </a:r>
          </a:p>
          <a:p>
            <a:pPr algn="l">
              <a:spcAft>
                <a:spcPts val="200"/>
              </a:spcAft>
            </a:pPr>
            <a:r>
              <a:rPr sz="1600">
                <a:solidFill>
                  <a:srgbClr val="263642"/>
                </a:solidFill>
                <a:latin typeface="Microsoft YaHei"/>
              </a:rPr>
              <a:t>• 非 OCR / 公式 / 图表理解主线</a:t>
            </a:r>
          </a:p>
          <a:p>
            <a:pPr algn="l">
              <a:spcAft>
                <a:spcPts val="200"/>
              </a:spcAft>
            </a:pPr>
            <a:r>
              <a:rPr sz="1600">
                <a:solidFill>
                  <a:srgbClr val="263642"/>
                </a:solidFill>
                <a:latin typeface="Microsoft YaHei"/>
              </a:rPr>
              <a:t>• 非校园网生产部署</a:t>
            </a:r>
          </a:p>
          <a:p>
            <a:pPr algn="l">
              <a:spcAft>
                <a:spcPts val="200"/>
              </a:spcAft>
            </a:pPr>
            <a:r>
              <a:rPr sz="1600">
                <a:solidFill>
                  <a:srgbClr val="263642"/>
                </a:solidFill>
                <a:latin typeface="Microsoft YaHei"/>
              </a:rPr>
              <a:t>• 供应商账单、依赖锁定待验</a:t>
            </a:r>
          </a:p>
          <a:p>
            <a:pPr algn="l">
              <a:spcAft>
                <a:spcPts val="200"/>
              </a:spcAft>
            </a:pPr>
            <a:r>
              <a:rPr sz="1600">
                <a:solidFill>
                  <a:srgbClr val="263642"/>
                </a:solidFill>
                <a:latin typeface="Microsoft YaHei"/>
              </a:rPr>
              <a:t>• Demo Reset / 成本专项待验</a:t>
            </a:r>
          </a:p>
          <a:p>
            <a:pPr algn="l">
              <a:spcAft>
                <a:spcPts val="200"/>
              </a:spcAft>
            </a:pPr>
            <a:r>
              <a:rPr sz="1600">
                <a:solidFill>
                  <a:srgbClr val="263642"/>
                </a:solidFill>
                <a:latin typeface="Microsoft YaHei"/>
              </a:rPr>
              <a:t>• 非开发者独立试用尚未完成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0972800" cy="4754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3247"/>
                </a:solidFill>
                <a:latin typeface="Microsoft YaHei"/>
              </a:rPr>
              <a:t>中期结论与下一步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32104"/>
            <a:ext cx="10881360" cy="36576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0">
                <a:solidFill>
                  <a:srgbClr val="61727D"/>
                </a:solidFill>
                <a:latin typeface="Microsoft YaHei"/>
              </a:rPr>
              <a:t>可演示、可追溯、可核对；不宣称通用多模态或人工事实准确率</a:t>
            </a:r>
          </a:p>
        </p:txBody>
      </p:sp>
      <p:sp>
        <p:nvSpPr>
          <p:cNvPr id="4" name="Rectangle 3"/>
          <p:cNvSpPr/>
          <p:nvPr/>
        </p:nvSpPr>
        <p:spPr>
          <a:xfrm>
            <a:off x="603504" y="1280160"/>
            <a:ext cx="658368" cy="41148"/>
          </a:xfrm>
          <a:prstGeom prst="rect">
            <a:avLst/>
          </a:prstGeom>
          <a:solidFill>
            <a:srgbClr val="D39A37"/>
          </a:solidFill>
          <a:ln w="2540">
            <a:solidFill>
              <a:srgbClr val="D39A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6510528"/>
            <a:ext cx="8686800" cy="1828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61727D"/>
                </a:solidFill>
                <a:latin typeface="Microsoft YaHei"/>
              </a:rPr>
              <a:t>高校课程知识库智能问答 · 中期进展（参考稿）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98480" y="6492240"/>
            <a:ext cx="868680" cy="20116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>
              <a:spcAft>
                <a:spcPts val="200"/>
              </a:spcAft>
            </a:pPr>
            <a:r>
              <a:rPr sz="900" b="0">
                <a:solidFill>
                  <a:srgbClr val="61727D"/>
                </a:solidFill>
                <a:latin typeface="Microsoft YaHei"/>
              </a:rPr>
              <a:t>10 / 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1600200"/>
            <a:ext cx="1828800" cy="36576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2100" b="1">
                <a:solidFill>
                  <a:srgbClr val="26734E"/>
                </a:solidFill>
                <a:latin typeface="Microsoft YaHei"/>
              </a:rPr>
              <a:t>已完成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8" y="2057400"/>
            <a:ext cx="5074920" cy="530352"/>
          </a:xfrm>
          <a:prstGeom prst="roundRect">
            <a:avLst/>
          </a:prstGeom>
          <a:solidFill>
            <a:srgbClr val="E4F1E9"/>
          </a:solidFill>
          <a:ln w="13970">
            <a:solidFill>
              <a:srgbClr val="E4F1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536" y="2130552"/>
            <a:ext cx="411480" cy="36576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26734E"/>
                </a:solidFill>
                <a:latin typeface="Microsoft YaHei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53312" y="2130552"/>
            <a:ext cx="4315968" cy="38404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263642"/>
                </a:solidFill>
                <a:latin typeface="Microsoft YaHei"/>
              </a:rPr>
              <a:t>中文四课演示库 4 / 27 / 2,501（cn_v2）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49808" y="2715768"/>
            <a:ext cx="5074920" cy="530352"/>
          </a:xfrm>
          <a:prstGeom prst="roundRect">
            <a:avLst/>
          </a:prstGeom>
          <a:solidFill>
            <a:srgbClr val="E4F1E9"/>
          </a:solidFill>
          <a:ln w="13970">
            <a:solidFill>
              <a:srgbClr val="E4F1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9536" y="2788920"/>
            <a:ext cx="411480" cy="36576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26734E"/>
                </a:solidFill>
                <a:latin typeface="Microsoft YaHei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53312" y="2788920"/>
            <a:ext cx="4315968" cy="38404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263642"/>
                </a:solidFill>
                <a:latin typeface="Microsoft YaHei"/>
              </a:rPr>
              <a:t>业务闭环可走：提问 → 引用 → 回原页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49808" y="3374136"/>
            <a:ext cx="5074920" cy="530352"/>
          </a:xfrm>
          <a:prstGeom prst="roundRect">
            <a:avLst/>
          </a:prstGeom>
          <a:solidFill>
            <a:srgbClr val="E4F1E9"/>
          </a:solidFill>
          <a:ln w="13970">
            <a:solidFill>
              <a:srgbClr val="E4F1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9536" y="3447288"/>
            <a:ext cx="411480" cy="36576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26734E"/>
                </a:solidFill>
                <a:latin typeface="Microsoft YaHei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53312" y="3447288"/>
            <a:ext cx="4315968" cy="38404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263642"/>
                </a:solidFill>
                <a:latin typeface="Microsoft YaHei"/>
              </a:rPr>
              <a:t>拒答与有据回答可区分演示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49808" y="4032504"/>
            <a:ext cx="5074920" cy="530352"/>
          </a:xfrm>
          <a:prstGeom prst="roundRect">
            <a:avLst/>
          </a:prstGeom>
          <a:solidFill>
            <a:srgbClr val="E4F1E9"/>
          </a:solidFill>
          <a:ln w="13970">
            <a:solidFill>
              <a:srgbClr val="E4F1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9536" y="4105656"/>
            <a:ext cx="411480" cy="36576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26734E"/>
                </a:solidFill>
                <a:latin typeface="Microsoft YaHei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53312" y="4105656"/>
            <a:ext cx="4315968" cy="38404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263642"/>
                </a:solidFill>
                <a:latin typeface="Microsoft YaHei"/>
              </a:rPr>
              <a:t>教师基础反馈与三角色入口可用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36208" y="1600200"/>
            <a:ext cx="1828800" cy="36576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2100" b="1">
                <a:solidFill>
                  <a:srgbClr val="D39A37"/>
                </a:solidFill>
                <a:latin typeface="Microsoft YaHei"/>
              </a:rPr>
              <a:t>下一步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36208" y="2057400"/>
            <a:ext cx="5074920" cy="530352"/>
          </a:xfrm>
          <a:prstGeom prst="roundRect">
            <a:avLst/>
          </a:prstGeom>
          <a:solidFill>
            <a:srgbClr val="FBF0D8"/>
          </a:solidFill>
          <a:ln w="13970">
            <a:solidFill>
              <a:srgbClr val="FBF0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45936" y="2130552"/>
            <a:ext cx="411480" cy="36576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D39A37"/>
                </a:solidFill>
                <a:latin typeface="Microsoft YaHei"/>
              </a:rPr>
              <a:t>01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39712" y="2130552"/>
            <a:ext cx="4315968" cy="38404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263642"/>
                </a:solidFill>
                <a:latin typeface="Microsoft YaHei"/>
              </a:rPr>
              <a:t>答辩同学可按提纲重做 PPT 终稿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36208" y="2715768"/>
            <a:ext cx="5074920" cy="530352"/>
          </a:xfrm>
          <a:prstGeom prst="roundRect">
            <a:avLst/>
          </a:prstGeom>
          <a:solidFill>
            <a:srgbClr val="FBF0D8"/>
          </a:solidFill>
          <a:ln w="13970">
            <a:solidFill>
              <a:srgbClr val="FBF0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45936" y="2788920"/>
            <a:ext cx="411480" cy="36576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D39A37"/>
                </a:solidFill>
                <a:latin typeface="Microsoft YaHei"/>
              </a:rPr>
              <a:t>02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39712" y="2788920"/>
            <a:ext cx="4315968" cy="38404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263642"/>
                </a:solidFill>
                <a:latin typeface="Microsoft YaHei"/>
              </a:rPr>
              <a:t>固定问句再彩排（模型已对齐 flash）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36208" y="3374136"/>
            <a:ext cx="5074920" cy="530352"/>
          </a:xfrm>
          <a:prstGeom prst="roundRect">
            <a:avLst/>
          </a:prstGeom>
          <a:solidFill>
            <a:srgbClr val="FBF0D8"/>
          </a:solidFill>
          <a:ln w="13970">
            <a:solidFill>
              <a:srgbClr val="FBF0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45936" y="3447288"/>
            <a:ext cx="411480" cy="36576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D39A37"/>
                </a:solidFill>
                <a:latin typeface="Microsoft YaHei"/>
              </a:rPr>
              <a:t>03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39712" y="3447288"/>
            <a:ext cx="4315968" cy="38404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263642"/>
                </a:solidFill>
                <a:latin typeface="Microsoft YaHei"/>
              </a:rPr>
              <a:t>小规模人工事实与引用复核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236208" y="4032504"/>
            <a:ext cx="5074920" cy="530352"/>
          </a:xfrm>
          <a:prstGeom prst="roundRect">
            <a:avLst/>
          </a:prstGeom>
          <a:solidFill>
            <a:srgbClr val="FBF0D8"/>
          </a:solidFill>
          <a:ln w="13970">
            <a:solidFill>
              <a:srgbClr val="FBF0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45936" y="4105656"/>
            <a:ext cx="411480" cy="36576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D39A37"/>
                </a:solidFill>
                <a:latin typeface="Microsoft YaHei"/>
              </a:rPr>
              <a:t>04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39712" y="4105656"/>
            <a:ext cx="4315968" cy="38404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263642"/>
                </a:solidFill>
                <a:latin typeface="Microsoft YaHei"/>
              </a:rPr>
              <a:t>成本/资源专项与结题试用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49808" y="5074920"/>
            <a:ext cx="10561320" cy="777240"/>
          </a:xfrm>
          <a:prstGeom prst="roundRect">
            <a:avLst/>
          </a:prstGeom>
          <a:solidFill>
            <a:srgbClr val="163247"/>
          </a:solidFill>
          <a:ln w="13970">
            <a:solidFill>
              <a:srgbClr val="1632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60120" y="5257800"/>
            <a:ext cx="10149840" cy="4114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FFFFFF"/>
                </a:solidFill>
                <a:latin typeface="Microsoft YaHei"/>
              </a:rPr>
              <a:t>结论：本机可演示的有依据课程问答原型；参考稿供队友改写，终稿可由答辩同学重做。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高校课程知识库智能问答：中期进展（参考稿）</dc:title>
  <dc:subject>中文四课 cn_v2、业务闭环、三项特色与诚实限制</dc:subject>
  <dc:creator>项目组</dc:creator>
  <cp:keywords>RAG, 课程知识库, 引用, 中期, 参考稿</cp:keywords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