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63247"/>
          </a:solidFill>
          <a:ln w="1270">
            <a:solidFill>
              <a:srgbClr val="16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92240" y="1298448"/>
            <a:ext cx="5010912" cy="4370832"/>
          </a:xfrm>
          <a:prstGeom prst="roundRect">
            <a:avLst/>
          </a:prstGeom>
          <a:solidFill>
            <a:srgbClr val="1D4053"/>
          </a:solidFill>
          <a:ln w="12700">
            <a:solidFill>
              <a:srgbClr val="4161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39712" y="1755648"/>
            <a:ext cx="1901952" cy="1024128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47D78"/>
                </a:solidFill>
                <a:latin typeface="Microsoft YaHei"/>
              </a:rPr>
              <a:t>课程资料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263642"/>
                </a:solidFill>
                <a:latin typeface="Microsoft YaHei"/>
              </a:rPr>
              <a:t>4 门课 · 27 份 PDF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62288" y="1755648"/>
            <a:ext cx="1901952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63247"/>
                </a:solidFill>
                <a:latin typeface="Microsoft YaHei"/>
              </a:rPr>
              <a:t>检索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263642"/>
                </a:solidFill>
                <a:latin typeface="Microsoft YaHei"/>
              </a:rPr>
              <a:t>Dense / BM25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41664" y="2267712"/>
            <a:ext cx="347472" cy="0"/>
          </a:xfrm>
          <a:prstGeom prst="line">
            <a:avLst/>
          </a:prstGeom>
          <a:ln w="2540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973568" y="3511296"/>
            <a:ext cx="2084831" cy="1078992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D39A37"/>
                </a:solidFill>
                <a:latin typeface="Microsoft YaHei"/>
              </a:rPr>
              <a:t>答案与证据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263642"/>
                </a:solidFill>
                <a:latin typeface="Microsoft YaHei"/>
              </a:rPr>
              <a:t>引用页码 · 原文核对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9372600" y="2798064"/>
            <a:ext cx="731520" cy="621792"/>
          </a:xfrm>
          <a:prstGeom prst="line">
            <a:avLst/>
          </a:prstGeom>
          <a:ln w="2540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76288" y="4937760"/>
            <a:ext cx="42062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8E7EE"/>
                </a:solidFill>
                <a:latin typeface="Microsoft YaHei"/>
              </a:rPr>
              <a:t>检索命中 ≠ 答案正确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08760"/>
            <a:ext cx="5120640" cy="1463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高校课程知识库</a:t>
            </a:r>
          </a:p>
          <a:p>
            <a:pPr algn="l">
              <a:spcAft>
                <a:spcPts val="20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智能问答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46120"/>
            <a:ext cx="822960" cy="54864"/>
          </a:xfrm>
          <a:prstGeom prst="rect">
            <a:avLst/>
          </a:prstGeom>
          <a:solidFill>
            <a:srgbClr val="D39A37"/>
          </a:solidFill>
          <a:ln w="12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529584"/>
            <a:ext cx="4754880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EAF2F6"/>
                </a:solidFill>
                <a:latin typeface="Microsoft YaHei"/>
              </a:rPr>
              <a:t>中期进展与验证结果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5989320"/>
            <a:ext cx="502920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D3E1E8"/>
                </a:solidFill>
                <a:latin typeface="Microsoft YaHei"/>
              </a:rPr>
              <a:t>中文四课文本型 RAG 原型 · 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项目问题与边界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目标是让学生能回到课程原文核对依据，而不是把模型回答当权威答案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27632"/>
            <a:ext cx="18288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247D78"/>
                </a:solidFill>
                <a:latin typeface="Microsoft YaHei"/>
              </a:rPr>
              <a:t>核心问题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29968"/>
            <a:ext cx="4800600" cy="10241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63247"/>
                </a:solidFill>
                <a:latin typeface="Microsoft YaHei"/>
              </a:rPr>
              <a:t>课件分散、资料内容难以定位；学生提出问题后，往往仍要手动翻找讲义。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46120"/>
            <a:ext cx="173736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D39A37"/>
                </a:solidFill>
                <a:latin typeface="Microsoft YaHei"/>
              </a:rPr>
              <a:t>项目目标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39312"/>
            <a:ext cx="4800600" cy="9875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263642"/>
                </a:solidFill>
                <a:latin typeface="Microsoft YaHei"/>
              </a:rPr>
              <a:t>按课程隔离资料与检索范围，让回答带有可打开的原文引用；依据不足时明确拒答。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645920"/>
            <a:ext cx="5440680" cy="3639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901952"/>
            <a:ext cx="47548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63247"/>
                </a:solidFill>
                <a:latin typeface="Microsoft YaHei"/>
              </a:rPr>
              <a:t>当前中期范围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2487168"/>
            <a:ext cx="138988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578608"/>
            <a:ext cx="124358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47D78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072384"/>
            <a:ext cx="124358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门课程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2487168"/>
            <a:ext cx="138988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2578608"/>
            <a:ext cx="124358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D39A37"/>
                </a:solidFill>
                <a:latin typeface="Microsoft YaHe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072384"/>
            <a:ext cx="124358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份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73184" y="2487168"/>
            <a:ext cx="157276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6336" y="2578608"/>
            <a:ext cx="142646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6734E"/>
                </a:solidFill>
                <a:latin typeface="Microsoft YaHei"/>
              </a:rPr>
              <a:t>2501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3072384"/>
            <a:ext cx="142646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3931920"/>
            <a:ext cx="4681728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B84242"/>
                </a:solidFill>
                <a:latin typeface="Microsoft YaHei"/>
              </a:rPr>
              <a:t>不宣称校园网生产部署、通用多模态理解、OCR 全覆盖或人工事实准确率。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4773168"/>
            <a:ext cx="1965960" cy="347472"/>
          </a:xfrm>
          <a:prstGeom prst="roundRect">
            <a:avLst/>
          </a:prstGeom>
          <a:solidFill>
            <a:srgbClr val="E4F1E9"/>
          </a:solidFill>
          <a:ln w="635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786883"/>
            <a:ext cx="187451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本机可演示原型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系统架构与证据链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复用成熟解析、Embedding、数据库与 Web 框架，本地实现课程边界和证据治理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1517904" cy="1353312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40864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63247"/>
                </a:solidFill>
                <a:latin typeface="Microsoft YaHei"/>
              </a:rPr>
              <a:t>课程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70632"/>
            <a:ext cx="137160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原始文件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课程隔离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03120" y="2825496"/>
            <a:ext cx="292608" cy="0"/>
          </a:xfrm>
          <a:prstGeom prst="line">
            <a:avLst/>
          </a:prstGeom>
          <a:ln w="22860">
            <a:solidFill>
              <a:srgbClr val="247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68880" y="2148840"/>
            <a:ext cx="1517904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2340864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63247"/>
                </a:solidFill>
                <a:latin typeface="Microsoft YaHei"/>
              </a:rPr>
              <a:t>解析与质检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770632"/>
            <a:ext cx="137160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PyMuPDF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页级质量门禁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05072" y="2825496"/>
            <a:ext cx="292608" cy="0"/>
          </a:xfrm>
          <a:prstGeom prst="line">
            <a:avLst/>
          </a:prstGeom>
          <a:ln w="22860">
            <a:solidFill>
              <a:srgbClr val="247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70832" y="2148840"/>
            <a:ext cx="1517904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2340864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63247"/>
                </a:solidFill>
                <a:latin typeface="Microsoft YaHei"/>
              </a:rPr>
              <a:t>切分与来源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2770632"/>
            <a:ext cx="137160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语义切分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页码/来源映射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07024" y="2825496"/>
            <a:ext cx="292608" cy="0"/>
          </a:xfrm>
          <a:prstGeom prst="line">
            <a:avLst/>
          </a:prstGeom>
          <a:ln w="22860">
            <a:solidFill>
              <a:srgbClr val="247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72784" y="2148840"/>
            <a:ext cx="1517904" cy="1353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340864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63247"/>
                </a:solidFill>
                <a:latin typeface="Microsoft YaHei"/>
              </a:rPr>
              <a:t>检索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770632"/>
            <a:ext cx="137160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Dense / BM25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Hybrid 对照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808976" y="2825496"/>
            <a:ext cx="292607" cy="0"/>
          </a:xfrm>
          <a:prstGeom prst="line">
            <a:avLst/>
          </a:prstGeom>
          <a:ln w="2286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74736" y="2148840"/>
            <a:ext cx="1517904" cy="1353312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340864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63247"/>
                </a:solidFill>
                <a:latin typeface="Microsoft YaHei"/>
              </a:rPr>
              <a:t>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770632"/>
            <a:ext cx="137160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DeepSeek V4 Flash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7D"/>
                </a:solidFill>
                <a:latin typeface="Microsoft YaHei"/>
              </a:rPr>
              <a:t>受控上下文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10928" y="2825496"/>
            <a:ext cx="292608" cy="0"/>
          </a:xfrm>
          <a:prstGeom prst="line">
            <a:avLst/>
          </a:prstGeom>
          <a:ln w="2286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76688" y="2148840"/>
            <a:ext cx="1517904" cy="1353312"/>
          </a:xfrm>
          <a:prstGeom prst="roundRect">
            <a:avLst/>
          </a:prstGeom>
          <a:solidFill>
            <a:srgbClr val="163247"/>
          </a:solidFill>
          <a:ln w="13970">
            <a:solidFill>
              <a:srgbClr val="16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0" y="2340864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学生答案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770632"/>
            <a:ext cx="137160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回答/引用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依据不足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160520"/>
            <a:ext cx="107442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389120"/>
            <a:ext cx="1170432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7D78"/>
                </a:solidFill>
                <a:latin typeface="Microsoft YaHei"/>
              </a:rPr>
              <a:t>应用层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21408" y="4315968"/>
            <a:ext cx="9015984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263642"/>
                </a:solidFill>
                <a:latin typeface="Microsoft YaHei"/>
              </a:rPr>
              <a:t>FastAPI + PostgreSQL/pgvector + Vue 3 · Cookie Session · admin / teacher / student 课程权限 · 上传、问答、原文件读取与教师基础反馈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577840"/>
            <a:ext cx="106070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0">
                <a:solidFill>
                  <a:srgbClr val="61727D"/>
                </a:solidFill>
                <a:latin typeface="Microsoft YaHei"/>
              </a:rPr>
              <a:t>模型输出只作为候选证据；权限、来源映射、生命周期和失败状态由应用层控制。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产品闭环：三角色与可核对引用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验收重点不是页面数量，而是从课程授权到原文核对的闭环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3401568" cy="2240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47D78"/>
                </a:solidFill>
                <a:latin typeface="Microsoft YaHei"/>
              </a:rPr>
              <a:t>管理员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账号与课程管理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课程成员授权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管理入口按角色显示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755648"/>
            <a:ext cx="3401568" cy="2240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39A37"/>
                </a:solidFill>
                <a:latin typeface="Microsoft YaHei"/>
              </a:rPr>
              <a:t>教师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查看本课资料与入库状态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覆盖不完整时显示警告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查看基础问题反馈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755648"/>
            <a:ext cx="3401568" cy="2240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6734E"/>
                </a:solidFill>
                <a:latin typeface="Microsoft YaHei"/>
              </a:rPr>
              <a:t>学生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我的课程 → 提问 → 查看引用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打开原 PDF 页码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依据不足与系统失败分开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407408"/>
            <a:ext cx="10789920" cy="1051560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E4F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645152"/>
            <a:ext cx="1572768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247D78"/>
                </a:solidFill>
                <a:latin typeface="Microsoft YaHei"/>
              </a:rPr>
              <a:t>可靠性细节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4572000"/>
            <a:ext cx="841248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3247"/>
                </a:solidFill>
                <a:latin typeface="Microsoft YaHei"/>
              </a:rPr>
              <a:t>失败后“重试本次问题”发送已提交问句快照；编辑后续草稿不会悄悄改写正在重试的问题。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760720"/>
            <a:ext cx="105156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61727D"/>
                </a:solidFill>
                <a:latin typeface="Microsoft YaHei"/>
              </a:rPr>
              <a:t>权限拒绝、资料外问题与服务异常属于不同结果，不统一伪装成“没有答案”。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数据准备与解析路线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停止不可接受的重型解析路线，用轻量文本提取和页级质量门禁建立可复现基线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05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39572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92224"/>
            <a:ext cx="224942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47D78"/>
                </a:solidFill>
                <a:latin typeface="Microsoft YaHe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224942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门课程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700784"/>
            <a:ext cx="239572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4992" y="1792224"/>
            <a:ext cx="224942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D39A37"/>
                </a:solidFill>
                <a:latin typeface="Microsoft YaHe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2286000"/>
            <a:ext cx="224942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份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0448" y="1700784"/>
            <a:ext cx="239572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792224"/>
            <a:ext cx="224942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6734E"/>
                </a:solidFill>
                <a:latin typeface="Microsoft YaHei"/>
              </a:rPr>
              <a:t>2501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286000"/>
            <a:ext cx="224942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chunks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1700784"/>
            <a:ext cx="267004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1792224"/>
            <a:ext cx="252374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cn_v2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8" y="2286000"/>
            <a:ext cx="252374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演示库身份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035808"/>
            <a:ext cx="5138928" cy="1719072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47D78"/>
                </a:solidFill>
                <a:latin typeface="Microsoft YaHei"/>
              </a:rPr>
              <a:t>当前路径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PyMuPDF 原生文字提取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逐页记录文字量、空页/稀疏页与异常字符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来源页码、文件哈希与切分版本可追溯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3035808"/>
            <a:ext cx="5138928" cy="1719072"/>
          </a:xfrm>
          <a:prstGeom prst="roundRect">
            <a:avLst/>
          </a:prstGeom>
          <a:solidFill>
            <a:srgbClr val="F9E7E5"/>
          </a:solidFill>
          <a:ln w="13970">
            <a:solidFill>
              <a:srgbClr val="B8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B84242"/>
                </a:solidFill>
                <a:latin typeface="Microsoft YaHei"/>
              </a:rPr>
              <a:t>已停止的路线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Docling 全量冻结在 8/17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约 4.13 小时；公式密集文件耗时不可接受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不续跑旧任务，特殊页面以后按需专项处理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257800"/>
            <a:ext cx="1069848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B84242"/>
                </a:solidFill>
                <a:latin typeface="Microsoft YaHei"/>
              </a:rPr>
              <a:t>拒答/依据不足是风险提示，不证明内容完整；当前未覆盖 OCR、纯图片页、可靠公式恢复与图表理解。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中文四课验收口径（cn_v2）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SiliconFlow BGE-M3 + DeepSeek；16 题弱规则验收 + 中期彩排；不是人工事实正确率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06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19072"/>
            <a:ext cx="2359152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2212848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47D78"/>
                </a:solidFill>
                <a:latin typeface="Microsoft YaHei"/>
              </a:rPr>
              <a:t>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04288"/>
            <a:ext cx="2212848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可答题命中预期文档/页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719072"/>
            <a:ext cx="2359152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9272" y="1810512"/>
            <a:ext cx="2212848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D39A37"/>
                </a:solidFill>
                <a:latin typeface="Microsoft YaHei"/>
              </a:rPr>
              <a:t>4/4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2304288"/>
            <a:ext cx="2212848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预期拒答判定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79008" y="1719072"/>
            <a:ext cx="2359152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810512"/>
            <a:ext cx="2212848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6734E"/>
                </a:solidFill>
                <a:latin typeface="Microsoft YaHei"/>
              </a:rPr>
              <a:t>4/27/2501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304288"/>
            <a:ext cx="2212848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课/PDF/chunks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1719072"/>
            <a:ext cx="2761488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8" y="1810512"/>
            <a:ext cx="2615184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B84242"/>
                </a:solidFill>
                <a:latin typeface="Microsoft YaHei"/>
              </a:rPr>
              <a:t>0.45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304288"/>
            <a:ext cx="2615184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余弦阈值（未校准）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108960"/>
            <a:ext cx="5138928" cy="14996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47D78"/>
                </a:solidFill>
                <a:latin typeface="Microsoft YaHei"/>
              </a:rPr>
              <a:t>当前演示检索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Dense + 可选 LLM 查询扩展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RERANKER 关闭（残留已归档）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模型：DeepSeek · Embedding：BGE-M3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3108960"/>
            <a:ext cx="5138928" cy="14996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39A37"/>
                </a:solidFill>
                <a:latin typeface="Microsoft YaHei"/>
              </a:rPr>
              <a:t>课程范围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线性代数 · 概率论与统计学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人力资源管理 · 教育学原理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263642"/>
                </a:solidFill>
                <a:latin typeface="Microsoft YaHei"/>
              </a:rPr>
              <a:t>库：univ_course_rag_cn_v2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56048"/>
            <a:ext cx="10607040" cy="786384"/>
          </a:xfrm>
          <a:prstGeom prst="roundRect">
            <a:avLst/>
          </a:prstGeom>
          <a:solidFill>
            <a:srgbClr val="F9E7E5"/>
          </a:solidFill>
          <a:ln w="13970">
            <a:solidFill>
              <a:srgbClr val="F9E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138928"/>
            <a:ext cx="1019556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B84242"/>
                </a:solidFill>
                <a:latin typeface="Microsoft YaHei"/>
              </a:rPr>
              <a:t>限制：题集为 AI 预标，未经独立人工复核；12/12 与 4/4 是弱自动化规则，不是人工事实正确率。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79592"/>
            <a:ext cx="104241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1727D"/>
                </a:solidFill>
                <a:latin typeface="Microsoft YaHei"/>
              </a:rPr>
              <a:t>观察：宽泛问法依赖查询扩展，偶发波动；命中 ≠ 答案正确。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中期彩排：学生书架与引用闭环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2026-10-19 彩排 PASS：LA-01 有引用、LA-R 拒答、教师资料/反馈、Admin 三行状态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07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27632"/>
            <a:ext cx="5230368" cy="3127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udent-ask-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549" y="1719072"/>
            <a:ext cx="3844869" cy="2670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4407408"/>
            <a:ext cx="484632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63247"/>
                </a:solidFill>
                <a:latin typeface="Microsoft YaHei"/>
              </a:rPr>
              <a:t>学生提问：LA-01 回答与引用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27632"/>
            <a:ext cx="5230368" cy="3127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udent-shelf-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6389" y="1719072"/>
            <a:ext cx="3844869" cy="2670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6520" y="4407408"/>
            <a:ext cx="484632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63247"/>
                </a:solidFill>
                <a:latin typeface="Microsoft YaHei"/>
              </a:rPr>
              <a:t>学生书架：中文四课书册入口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74920"/>
            <a:ext cx="2450592" cy="347472"/>
          </a:xfrm>
          <a:prstGeom prst="roundRect">
            <a:avLst/>
          </a:prstGeom>
          <a:solidFill>
            <a:srgbClr val="E4F1E9"/>
          </a:solidFill>
          <a:ln w="635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088636"/>
            <a:ext cx="2359152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三角色导航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5074920"/>
            <a:ext cx="2450592" cy="347472"/>
          </a:xfrm>
          <a:prstGeom prst="roundRect">
            <a:avLst/>
          </a:prstGeom>
          <a:solidFill>
            <a:srgbClr val="E4F1E9"/>
          </a:solidFill>
          <a:ln w="635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7" y="5088636"/>
            <a:ext cx="2359152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原资料 #page=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5074920"/>
            <a:ext cx="2450592" cy="347472"/>
          </a:xfrm>
          <a:prstGeom prst="roundRect">
            <a:avLst/>
          </a:prstGeom>
          <a:solidFill>
            <a:srgbClr val="E4F1E9"/>
          </a:solidFill>
          <a:ln w="635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5088636"/>
            <a:ext cx="2359152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拒答/依据不足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5074920"/>
            <a:ext cx="2450592" cy="347472"/>
          </a:xfrm>
          <a:prstGeom prst="roundRect">
            <a:avLst/>
          </a:prstGeom>
          <a:solidFill>
            <a:srgbClr val="E4F1E9"/>
          </a:solidFill>
          <a:ln w="635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1704" y="5088636"/>
            <a:ext cx="2359152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Admin 三行状态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06440"/>
            <a:ext cx="105156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1727D"/>
                </a:solidFill>
                <a:latin typeface="Microsoft YaHei"/>
              </a:rPr>
              <a:t>中期彩排 PASS（2026-10-19）· 证据：corpus/local/midterm-rehearsal-2026-10-19/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P7-3 恢复演练通过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数据库 dump 与上传资料/解析产物恢复到独立目标，原演示库未被改写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08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072384" cy="1325880"/>
          </a:xfrm>
          <a:prstGeom prst="roundRect">
            <a:avLst/>
          </a:prstGeom>
          <a:solidFill>
            <a:srgbClr val="E4F2F0"/>
          </a:solidFill>
          <a:ln w="13970">
            <a:solidFill>
              <a:srgbClr val="247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47D78"/>
                </a:solidFill>
                <a:latin typeface="Microsoft YaHei"/>
              </a:rPr>
              <a:t>历史恢复源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univ_course_rag_r7b6_real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0011 · 4 课 / 17 份 / 385 chunks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3712" y="1737360"/>
            <a:ext cx="3072384" cy="13258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39A37"/>
                </a:solidFill>
                <a:latin typeface="Microsoft YaHei"/>
              </a:rPr>
              <a:t>备份包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custom-format pg_dump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263642"/>
                </a:solidFill>
                <a:latin typeface="Microsoft YaHei"/>
              </a:rPr>
              <a:t>SHA-256 与归档目录已登记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94192" y="1737360"/>
            <a:ext cx="3072384" cy="1325880"/>
          </a:xfrm>
          <a:prstGeom prst="roundRect">
            <a:avLst/>
          </a:prstGeom>
          <a:solidFill>
            <a:srgbClr val="163247"/>
          </a:solidFill>
          <a:ln w="13970">
            <a:solidFill>
              <a:srgbClr val="16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隔离恢复库</a:t>
            </a:r>
          </a:p>
          <a:p>
            <a:pPr algn="l"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Microsoft YaHei"/>
              </a:rPr>
              <a:t>univ_course_rag_r9_restore_20261018</a:t>
            </a:r>
          </a:p>
          <a:p>
            <a:pPr algn="l"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Microsoft YaHei"/>
              </a:rPr>
              <a:t>pgvector 0.8.7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85615" y="2395728"/>
            <a:ext cx="676657" cy="0"/>
          </a:xfrm>
          <a:prstGeom prst="line">
            <a:avLst/>
          </a:prstGeom>
          <a:ln w="27940">
            <a:solidFill>
              <a:srgbClr val="247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26096" y="2395728"/>
            <a:ext cx="676656" cy="0"/>
          </a:xfrm>
          <a:prstGeom prst="line">
            <a:avLst/>
          </a:prstGeom>
          <a:ln w="27940">
            <a:solidFill>
              <a:srgbClr val="D39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584448"/>
            <a:ext cx="315468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675887"/>
            <a:ext cx="3008376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6734E"/>
                </a:solidFill>
                <a:latin typeface="Microsoft YaHei"/>
              </a:rPr>
              <a:t>17/17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3"/>
            <a:ext cx="3008376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上传 PDF 哈希/页数/存储边界通过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3584448"/>
            <a:ext cx="315468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3675887"/>
            <a:ext cx="3008376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247D78"/>
                </a:solidFill>
                <a:latin typeface="Microsoft YaHei"/>
              </a:rPr>
              <a:t>17/17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4169663"/>
            <a:ext cx="3008376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解析来源身份核验通过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1" y="3584448"/>
            <a:ext cx="315468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3" y="3675887"/>
            <a:ext cx="3008376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3" y="4169663"/>
            <a:ext cx="3008376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1727D"/>
                </a:solidFill>
                <a:latin typeface="Microsoft YaHei"/>
              </a:rPr>
              <a:t>全部 public 表行数匹配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4983480"/>
            <a:ext cx="10661904" cy="73152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138928"/>
            <a:ext cx="1028700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63247"/>
                </a:solidFill>
                <a:latin typeface="Microsoft YaHei"/>
              </a:rPr>
              <a:t>源库、旧库、Fake 库规模未变；无云调用、无全量重入库。Demo Reset 与成本/资源专项仍待验。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已知限制：不把原型能力夸大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当前工程闭环与通用 RAG 质量是两回事，汇报时明确区分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09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38928" cy="34930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84242"/>
                </a:solidFill>
                <a:latin typeface="Microsoft YaHei"/>
              </a:rPr>
              <a:t>评测与答案质量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AI 预标未独立人工复核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0.45 阈值未校准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Hybrid 未运行生成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合法引用不等于事实主张被支持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PHIL-T02 体现命中与回答质量的差别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37360"/>
            <a:ext cx="5138928" cy="34930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39A37"/>
                </a:solidFill>
                <a:latin typeface="Microsoft YaHei"/>
              </a:rPr>
              <a:t>运行与交付边界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供应商实际人民币账单未核对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Python 依赖声明未完全锁定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OCR/视觉/公式图表理解未纳入主线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Demo Reset 与成本/资源专项待验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263642"/>
                </a:solidFill>
                <a:latin typeface="Microsoft YaHei"/>
              </a:rPr>
              <a:t>• 非开发者独立试用尚未完成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669280"/>
            <a:ext cx="104698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63247"/>
                </a:solidFill>
                <a:latin typeface="Microsoft YaHei"/>
              </a:rPr>
              <a:t>这些是当前限制，不是隐藏缺陷；只陈述已运行并有证据的能力。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3247"/>
                </a:solidFill>
                <a:latin typeface="Microsoft YaHei"/>
              </a:rPr>
              <a:t>中期结论与下一步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32104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1727D"/>
                </a:solidFill>
                <a:latin typeface="Microsoft YaHei"/>
              </a:rPr>
              <a:t>已完成四课文本型问答原型、内部验收与恢复验证，下一阶段围绕可验证性收口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280160"/>
            <a:ext cx="658368" cy="41148"/>
          </a:xfrm>
          <a:prstGeom prst="rect">
            <a:avLst/>
          </a:prstGeom>
          <a:solidFill>
            <a:srgbClr val="D39A37"/>
          </a:solidFill>
          <a:ln w="2540">
            <a:solidFill>
              <a:srgbClr val="D39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高校课程知识库智能问答 · 中期进展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1727D"/>
                </a:solidFill>
                <a:latin typeface="Microsoft YaHei"/>
              </a:rP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64208"/>
            <a:ext cx="182880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734E"/>
                </a:solidFill>
                <a:latin typeface="Microsoft YaHei"/>
              </a:rPr>
              <a:t>已完成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48840"/>
            <a:ext cx="5074920" cy="548640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2219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2128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中文四课演示库：4 门课 / 27 份 PDF / 2,501 chunks（cn_v2）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834640"/>
            <a:ext cx="5074920" cy="548640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9077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8986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中期彩排：学生引用闭环 + 拒答 + 教师/Admin 一眼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520440"/>
            <a:ext cx="5074920" cy="548640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5935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5844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P7-3：数据库与文件隔离恢复通过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206240"/>
            <a:ext cx="5074920" cy="548640"/>
          </a:xfrm>
          <a:prstGeom prst="roundRect">
            <a:avLst/>
          </a:prstGeom>
          <a:solidFill>
            <a:srgbClr val="E4F1E9"/>
          </a:solidFill>
          <a:ln w="13970">
            <a:solidFill>
              <a:srgbClr val="E4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2793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6734E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2702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R9 刷新：当前 HEAD + cn_v2 身份清单已登记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1664208"/>
            <a:ext cx="182880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D39A37"/>
                </a:solidFill>
                <a:latin typeface="Microsoft YaHei"/>
              </a:rPr>
              <a:t>下一步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148840"/>
            <a:ext cx="5074920" cy="54864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2219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22128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完成 Office 视觉复核与固定 Demo 彩排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2834640"/>
            <a:ext cx="5074920" cy="54864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29077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28986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选定题集做小规模人工事实复核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520440"/>
            <a:ext cx="5074920" cy="54864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5935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9712" y="35844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补成本/资源限制专项核验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6208" y="4206240"/>
            <a:ext cx="5074920" cy="548640"/>
          </a:xfrm>
          <a:prstGeom prst="roundRect">
            <a:avLst/>
          </a:prstGeom>
          <a:solidFill>
            <a:srgbClr val="FBF0D8"/>
          </a:solidFill>
          <a:ln w="13970">
            <a:solidFill>
              <a:srgbClr val="FBF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45936" y="4279392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39A37"/>
                </a:solidFill>
                <a:latin typeface="Microsoft YaHe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4270248"/>
            <a:ext cx="4315968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63642"/>
                </a:solidFill>
                <a:latin typeface="Microsoft YaHei"/>
              </a:rPr>
              <a:t>后续再争取非开发者独立试用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8" y="5257800"/>
            <a:ext cx="10561320" cy="658368"/>
          </a:xfrm>
          <a:prstGeom prst="roundRect">
            <a:avLst/>
          </a:prstGeom>
          <a:solidFill>
            <a:srgbClr val="163247"/>
          </a:solidFill>
          <a:ln w="13970">
            <a:solidFill>
              <a:srgbClr val="16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404104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结论：可演示、可追溯、可恢复；不宣称通用多模态能力或人工事实准确率。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高校课程知识库智能问答：中期进展与验证结果</dc:title>
  <dc:subject>中文四课验收口径（cn_v2）、R8 内部验收、P7-3 恢复演练与 R9 冻结</dc:subject>
  <dc:creator>项目组</dc:creator>
  <cp:keywords>RAG, 课程知识库, 引用, 验收, 恢复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