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163247"/>
          </a:solidFill>
          <a:ln w="12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46520" y="1325880"/>
            <a:ext cx="5074920" cy="4160520"/>
          </a:xfrm>
          <a:prstGeom prst="roundRect">
            <a:avLst/>
          </a:prstGeom>
          <a:solidFill>
            <a:srgbClr val="1D4053"/>
          </a:solidFill>
          <a:ln w="12700">
            <a:solidFill>
              <a:srgbClr val="41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20840" y="1645920"/>
            <a:ext cx="2148840" cy="109728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课界权限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未授权拒绝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截图 10 · PERM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645920"/>
            <a:ext cx="21031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证据链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引用回原页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#page=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915400" y="2194560"/>
            <a:ext cx="182880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20840" y="3017520"/>
            <a:ext cx="2148840" cy="109728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失败语义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有据 / 不足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故障 / 权限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017520"/>
            <a:ext cx="21031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可审计评测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22 题分层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开发者核验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43400"/>
            <a:ext cx="2926080" cy="86868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6734E"/>
                </a:solidFill>
                <a:latin typeface="Microsoft YaHei"/>
              </a:rPr>
              <a:t>演示库 cn_v2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4 课 · 27 PDF · 2501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440680"/>
            <a:ext cx="4572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D8E7EE"/>
                </a:solidFill>
                <a:latin typeface="Microsoft YaHei"/>
              </a:rPr>
              <a:t>有依据、可核对、能解释失败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5120640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高校课程知识库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智能问答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108960"/>
            <a:ext cx="822960" cy="54864"/>
          </a:xfrm>
          <a:prstGeom prst="rect">
            <a:avLst/>
          </a:prstGeom>
          <a:solidFill>
            <a:srgbClr val="D39A37"/>
          </a:solidFill>
          <a:ln w="12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83280"/>
            <a:ext cx="4754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2F6"/>
                </a:solidFill>
                <a:latin typeface="Microsoft YaHei"/>
              </a:rPr>
              <a:t>中期汇报 · 候选稿 v6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77639"/>
            <a:ext cx="4846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3E1E8"/>
                </a:solidFill>
                <a:latin typeface="Microsoft YaHei"/>
              </a:rPr>
              <a:t>有依据、可核对、能解释失败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212080"/>
            <a:ext cx="5029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39A37"/>
                </a:solidFill>
                <a:latin typeface="Microsoft YaHei"/>
              </a:rPr>
              <a:t>候选稿：保留 v5 原稿；终稿可由答辩同学改写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852160"/>
            <a:ext cx="5029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3E1E8"/>
                </a:solidFill>
                <a:latin typeface="Microsoft YaHei"/>
              </a:rPr>
              <a:t>中文四课文本型 RAG · Dense 主演示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痛点 → 中期目标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课件难定位；流畅 ≠ 课程依据；需要可核对且能解释失败的问答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3247"/>
                </a:solidFill>
                <a:latin typeface="Microsoft YaHei"/>
              </a:rPr>
              <a:t>实际痛点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知识分散在多份讲义/课件中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自然语言问题难靠文件名定位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通用模型流畅，未必对应当前课程口径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学生需要原文核对入口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多课程必须守住访问边界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「答得漂亮」不等于「课内有据」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41605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39A37"/>
                </a:solidFill>
                <a:latin typeface="Microsoft YaHei"/>
              </a:rPr>
              <a:t>中期目标（本阶段）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本机可演示的文本型 RAG 原型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中文四课：4 / 27 / 2,501（cn_v2）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学生：提问 → 引用 → 回原 PDF 页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依据不足 / 系统失败 / 权限拒绝分开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教师侧基础反馈（线索，非画像）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不宣称生产部署或通用多模态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715000"/>
            <a:ext cx="11018520" cy="50292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779008"/>
            <a:ext cx="10698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核心问题：如何让课程问答遵守课界、提供可核对依据，并在依据不足时正确停止？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方案闭环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资料 → 授权检索 → 证据问答 → 来源核对 → 教学反馈；三角色分工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057400" cy="219456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① 资料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上传解析入库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页级质量态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246888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417320"/>
            <a:ext cx="20574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② 授权检索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课程成员边界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课内候选召回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28031" y="2468880"/>
            <a:ext cx="128017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0" y="1417320"/>
            <a:ext cx="2057400" cy="219456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③ 证据问答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受限上下文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有据/拒答/失败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14031" y="2468880"/>
            <a:ext cx="128017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1417320"/>
            <a:ext cx="20574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④ 来源核对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引用摘录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打开原 PDF 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00032" y="246888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0" y="1417320"/>
            <a:ext cx="2057400" cy="219456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734E"/>
                </a:solidFill>
                <a:latin typeface="Microsoft YaHei"/>
              </a:rPr>
              <a:t>⑤ 教学反馈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高频问句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依据不足线索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676656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架构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3911"/>
            <a:ext cx="6492240" cy="205341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52360" y="3840480"/>
            <a:ext cx="4114800" cy="224028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三角色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管理员：账号 / 课程 / 授权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教师：资料状态 + 基础反馈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学生：提问 → 引用 → 回原页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不是单一聊天窗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亮点① 课程边界贯穿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未授权请求被拒绝；权限不是 UI 装饰（依据：PERM 截图 + 运行卡）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30936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m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" y="1508760"/>
            <a:ext cx="5793638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77840"/>
            <a:ext cx="60350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彩排截图 10 · PERM 无权限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371600"/>
            <a:ext cx="452628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机制与边界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解决什么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未加入课程仍可问答会泄漏资料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关键机制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课程成员校验贯穿检索/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生成/打开原文件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未授权 → 拒绝（403/无权限 UI）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现有证据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截图 10；运行卡 PERM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历史 API/UI 验收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边界（勿夸大）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仅覆盖已测路径；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不宣称已过渗透/并发审计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亮点② 证据链到原文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页级解析 → 课内检索 → 受限生成与引用 → 点开 #page= 原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416052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sk-c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0655"/>
            <a:ext cx="3977639" cy="27622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297680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63247"/>
                </a:solidFill>
                <a:latin typeface="Microsoft YaHei"/>
              </a:rPr>
              <a:t>03 回答与引用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25880"/>
            <a:ext cx="416052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en-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0655"/>
            <a:ext cx="3977639" cy="27622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46320" y="4297680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63247"/>
                </a:solidFill>
                <a:latin typeface="Microsoft YaHei"/>
              </a:rPr>
              <a:t>04 真浏览器打开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325880"/>
            <a:ext cx="26060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问答链路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1943265"/>
            <a:ext cx="2468880" cy="182846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709160"/>
            <a:ext cx="2697480" cy="347472"/>
          </a:xfrm>
          <a:prstGeom prst="roundRect">
            <a:avLst/>
          </a:prstGeom>
          <a:solidFill>
            <a:srgbClr val="E4F2F0"/>
          </a:solidFill>
          <a:ln w="6350">
            <a:solidFill>
              <a:srgbClr val="E4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22876"/>
            <a:ext cx="26060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47D78"/>
                </a:solidFill>
                <a:latin typeface="Microsoft YaHei"/>
              </a:rPr>
              <a:t>页级解析/质量态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709160"/>
            <a:ext cx="2468880" cy="347472"/>
          </a:xfrm>
          <a:prstGeom prst="roundRect">
            <a:avLst/>
          </a:prstGeom>
          <a:solidFill>
            <a:srgbClr val="E4F2F0"/>
          </a:solidFill>
          <a:ln w="6350">
            <a:solidFill>
              <a:srgbClr val="E4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4722876"/>
            <a:ext cx="2377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47D78"/>
                </a:solidFill>
                <a:latin typeface="Microsoft YaHei"/>
              </a:rPr>
              <a:t>Dense · BGE-M3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4709160"/>
            <a:ext cx="2468880" cy="347472"/>
          </a:xfrm>
          <a:prstGeom prst="roundRect">
            <a:avLst/>
          </a:prstGeom>
          <a:solidFill>
            <a:srgbClr val="FBF0D8"/>
          </a:solidFill>
          <a:ln w="6350">
            <a:solidFill>
              <a:srgbClr val="FB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722876"/>
            <a:ext cx="2377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39A37"/>
                </a:solidFill>
                <a:latin typeface="Microsoft YaHei"/>
              </a:rPr>
              <a:t>deepseek-flash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4709160"/>
            <a:ext cx="3108960" cy="347472"/>
          </a:xfrm>
          <a:prstGeom prst="roundRect">
            <a:avLst/>
          </a:prstGeom>
          <a:solidFill>
            <a:srgbClr val="E4F1E9"/>
          </a:solidFill>
          <a:ln w="6350">
            <a:solidFill>
              <a:srgbClr val="E4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4722876"/>
            <a:ext cx="3017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6734E"/>
                </a:solidFill>
                <a:latin typeface="Microsoft YaHei"/>
              </a:rPr>
              <a:t>引用 #page=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578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只引用实际送入上下文的来源；检索命中 ≠ 答案正确。主演示 Dense，rerank 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亮点③ 失败语义对照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有据 ≠ 依据不足 ≠ 系统故障 ≠ 权限拒绝；无证据不等于坏了，也不等于答案正确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33172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6734E"/>
                </a:solidFill>
                <a:latin typeface="Microsoft YaHei"/>
              </a:rPr>
              <a:t>有据回答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课内有证据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附引用可回页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例：LA-01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97480" cy="23317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39A37"/>
                </a:solidFill>
                <a:latin typeface="Microsoft YaHei"/>
              </a:rPr>
              <a:t>依据不足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无足够课内依据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正确停止/拒答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例：LA-R · 截图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697480" cy="23317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84242"/>
                </a:solidFill>
                <a:latin typeface="Microsoft YaHei"/>
              </a:rPr>
              <a:t>系统故障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上游/服务异常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可重试，非拒答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截图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371600"/>
            <a:ext cx="2697480" cy="233172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权限拒绝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未授权课程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403 / 无权限 UI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截图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548640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82" y="3977639"/>
            <a:ext cx="2567635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3035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39A37"/>
                </a:solidFill>
                <a:latin typeface="Microsoft YaHei"/>
              </a:rPr>
              <a:t>05 依据不足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86200"/>
            <a:ext cx="548640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ysf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862" y="3977639"/>
            <a:ext cx="2567635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5806440"/>
            <a:ext cx="53035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B84242"/>
                </a:solidFill>
                <a:latin typeface="Microsoft YaHei"/>
              </a:rPr>
              <a:t>11 系统故障（可重试）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亮点④ 可审计评测与门禁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分层指标 · verifier=developer · 22 题不可外推 · 不合成单一准确率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399032"/>
            <a:ext cx="208483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247D78"/>
                </a:solidFill>
                <a:latin typeface="Microsoft YaHei"/>
              </a:rPr>
              <a:t>4/27/2501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856231"/>
            <a:ext cx="208483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课 / PDF /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25880"/>
            <a:ext cx="233172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399032"/>
            <a:ext cx="222199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39A37"/>
                </a:solidFill>
                <a:latin typeface="Microsoft YaHei"/>
              </a:rPr>
              <a:t>20/27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856231"/>
            <a:ext cx="222199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COVERAGE 需核对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≠ 解析失败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325880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1399032"/>
            <a:ext cx="208483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63247"/>
                </a:solidFill>
                <a:latin typeface="Microsoft YaHei"/>
              </a:rPr>
              <a:t>Dense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1856231"/>
            <a:ext cx="208483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主演示 · rerank关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325880"/>
            <a:ext cx="205740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4" y="1399032"/>
            <a:ext cx="194767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247D78"/>
                </a:solidFill>
                <a:latin typeface="Microsoft YaHei"/>
              </a:rPr>
              <a:t>BGE-M3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856231"/>
            <a:ext cx="194767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Embedding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325880"/>
            <a:ext cx="1874519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38944" y="1399032"/>
            <a:ext cx="176479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39A37"/>
                </a:solidFill>
                <a:latin typeface="Microsoft YaHei"/>
              </a:rPr>
              <a:t>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4" y="1856231"/>
            <a:ext cx="176479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deepseek-flash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68880"/>
            <a:ext cx="731520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22 题开发者核验（Dense / Hybrid）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端到端可答题成功率　　　　15/17　/　16/17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已回答题中的事实要点通过率　15/16　/　16/16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已回答题中的引用支持通过率　16/16　/　16/16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严格预期页命中　　　　　　　12/16　/　12/16　← 不叫引用错误率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明显课外问题正确拒答　　　　5/5　　/　5/5　　← 不可泛化困难拒答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来源：研究证据/results/retrieval-compare-2026-10-20.md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开发者核验，非独立评测；不得宣称 Hybrid 显著更优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Keyword-only→最终 evidence=0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468880"/>
            <a:ext cx="3703320" cy="32461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4242"/>
                </a:solidFill>
                <a:latin typeface="Microsoft YaHei"/>
              </a:rPr>
              <a:t>真实限制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PROB-F02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应答题却 NO_EVIDENCE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根因未定位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页码口径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阅读器页序 ≠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Chunk 合并末页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开发者核验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非独立评测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60–90 秒主演示路径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每步证明什么：有据 → 回原页 → 依据不足 →（截图）权限 / 系统失败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194560" cy="214884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47D78"/>
                </a:solidFill>
                <a:latin typeface="Microsoft YaHei"/>
              </a:rPr>
              <a:t>1 提问 LA-01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课内可检索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并生成有据答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432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371600"/>
            <a:ext cx="21945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2 看引用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来源可核对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摘录+页码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5604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371600"/>
            <a:ext cx="2194560" cy="214884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39A37"/>
                </a:solidFill>
                <a:latin typeface="Microsoft YaHei"/>
              </a:rPr>
              <a:t>3 开 PDF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#page= 回原页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截图 03+04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8776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371600"/>
            <a:ext cx="21945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4 LA-R 拒答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依据不足停止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截图 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1948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59" y="1371600"/>
            <a:ext cx="2194560" cy="214884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6734E"/>
                </a:solidFill>
                <a:latin typeface="Microsoft YaHei"/>
              </a:rPr>
              <a:t>5 权限/故障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PERM≠故障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截图 10+11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1120140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口播要点（固定问句）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1069848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LA-01：根据线性代数讲义，线性代数主要研究哪两类对象？ → 有回答与引用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LA-R：根据线性代数讲义，如何用 SQL 创建数据库表并插入数据？ → 依据不足，不编造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PERM：未加入课程 → 无权限（截图 10）｜系统故障：可重试、文案不同于依据不足（截图 11）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运行卡：docs/中期演示运行卡.md　｜　截图：中期答辩材料/彩排截图/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局限 · 后期 · 中期结论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把边界讲清；不承诺公网生产；开题原件未找到则诚实说明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09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57600" cy="32461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84242"/>
                </a:solidFill>
                <a:latin typeface="Microsoft YaHei"/>
              </a:rPr>
              <a:t>现有不足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开发者核验，非独立评测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页码口径仍需核对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无 OCR / 扫描主线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公式与图表理解有限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阈值未校准；成本未对账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PROB-F02 根因未定位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657600" cy="32461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后期方向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独立小样本人工复核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单题诊断 PROB-F02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Hybrid/rerank 有无收益如实报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同义问题组（校准后再开）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结题试用 + 资源账单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不承诺公网部署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5204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开题对照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获批开题原件：未找到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仅有修订稿可对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扫描/公式/图：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  未声称已完整实现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「重点争取」项后置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201400" cy="123444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37760"/>
            <a:ext cx="1078992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中期结论：四课本机可演示——课界贯穿、证据可回原页、失败语义可区分、评测可分层审计。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检索命中 ≠ 答案正确；22 题不可外推；候选稿 v6，终稿可由答辩同学改写。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高校课程知识库智能问答：中期汇报候选稿 v6</dc:title>
  <dc:subject>技术亮点、分层评测、失败语义、演示路径</dc:subject>
  <dc:creator>项目组</dc:creator>
  <cp:keywords>RAG, 课程知识库, 引用, 中期, 候选稿 v6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