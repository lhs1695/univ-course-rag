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f61aa3a6f146a1" /><Relationship Type="http://schemas.openxmlformats.org/officeDocument/2006/relationships/extended-properties" Target="/docProps/app.xml" Id="Rcedaa98c7f564bb0" /><Relationship Type="http://schemas.openxmlformats.org/officeDocument/2006/relationships/officeDocument" Target="/ppt/presentation.xml" Id="R5a3ea6009f3246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cc335c647740a8"/>
  </p:sldMasterIdLst>
  <p:notesMasterIdLst>
    <p:notesMasterId xmlns:r="http://schemas.openxmlformats.org/officeDocument/2006/relationships" r:id="R1d0f9dc0a4094555"/>
  </p:notesMasterIdLst>
  <p:sldIdLst>
    <p:sldId xmlns:r="http://schemas.openxmlformats.org/officeDocument/2006/relationships" id="256" r:id="R5d0646b723584c6f"/>
    <p:sldId xmlns:r="http://schemas.openxmlformats.org/officeDocument/2006/relationships" id="257" r:id="Rb603ed83827a4b7a"/>
    <p:sldId xmlns:r="http://schemas.openxmlformats.org/officeDocument/2006/relationships" id="258" r:id="Ra7bbfc1d62634c88"/>
    <p:sldId xmlns:r="http://schemas.openxmlformats.org/officeDocument/2006/relationships" id="259" r:id="Re6ce6d2e3b9b4e9c"/>
    <p:sldId xmlns:r="http://schemas.openxmlformats.org/officeDocument/2006/relationships" id="260" r:id="R6501619511154716"/>
    <p:sldId xmlns:r="http://schemas.openxmlformats.org/officeDocument/2006/relationships" id="261" r:id="Rbb1a6e2ab96e4fd1"/>
    <p:sldId xmlns:r="http://schemas.openxmlformats.org/officeDocument/2006/relationships" id="262" r:id="Rd9fa9d957d304fd3"/>
    <p:sldId xmlns:r="http://schemas.openxmlformats.org/officeDocument/2006/relationships" id="263" r:id="R6f721beb92f5408a"/>
    <p:sldId xmlns:r="http://schemas.openxmlformats.org/officeDocument/2006/relationships" id="264" r:id="R37060204c7ab4ef6"/>
    <p:sldId xmlns:r="http://schemas.openxmlformats.org/officeDocument/2006/relationships" id="265" r:id="R97ae292b054746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76c17eac6469b" /><Relationship Type="http://schemas.openxmlformats.org/officeDocument/2006/relationships/slideMaster" Target="/ppt/slideMasters/slideMaster1.xml" Id="R80cc335c647740a8" /><Relationship Type="http://schemas.openxmlformats.org/officeDocument/2006/relationships/notesMaster" Target="/ppt/notesMasters/notesMaster1.xml" Id="R1d0f9dc0a4094555" /><Relationship Type="http://schemas.openxmlformats.org/officeDocument/2006/relationships/presProps" Target="/ppt/presProps.xml" Id="R84396133ea0f4d14" /><Relationship Type="http://schemas.openxmlformats.org/officeDocument/2006/relationships/tableStyles" Target="/ppt/tableStyles.xml" Id="R63fb7e0608014844" /><Relationship Type="http://schemas.openxmlformats.org/officeDocument/2006/relationships/slide" Target="/ppt/slides/slide1.xml" Id="R5d0646b723584c6f" /><Relationship Type="http://schemas.openxmlformats.org/officeDocument/2006/relationships/slide" Target="/ppt/slides/slide2.xml" Id="Rb603ed83827a4b7a" /><Relationship Type="http://schemas.openxmlformats.org/officeDocument/2006/relationships/slide" Target="/ppt/slides/slide3.xml" Id="Ra7bbfc1d62634c88" /><Relationship Type="http://schemas.openxmlformats.org/officeDocument/2006/relationships/slide" Target="/ppt/slides/slide4.xml" Id="Re6ce6d2e3b9b4e9c" /><Relationship Type="http://schemas.openxmlformats.org/officeDocument/2006/relationships/slide" Target="/ppt/slides/slide5.xml" Id="R6501619511154716" /><Relationship Type="http://schemas.openxmlformats.org/officeDocument/2006/relationships/slide" Target="/ppt/slides/slide6.xml" Id="Rbb1a6e2ab96e4fd1" /><Relationship Type="http://schemas.openxmlformats.org/officeDocument/2006/relationships/slide" Target="/ppt/slides/slide7.xml" Id="Rd9fa9d957d304fd3" /><Relationship Type="http://schemas.openxmlformats.org/officeDocument/2006/relationships/slide" Target="/ppt/slides/slide8.xml" Id="R6f721beb92f5408a" /><Relationship Type="http://schemas.openxmlformats.org/officeDocument/2006/relationships/slide" Target="/ppt/slides/slide9.xml" Id="R37060204c7ab4ef6" /><Relationship Type="http://schemas.openxmlformats.org/officeDocument/2006/relationships/slide" Target="/ppt/slides/slide10.xml" Id="R97ae292b0547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a71c4e96d149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66aea429514310" /><Relationship Type="http://schemas.openxmlformats.org/officeDocument/2006/relationships/notesMaster" Target="/ppt/notesMasters/notesMaster1.xml" Id="Rd18a1aded172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0d1a400814726" /><Relationship Type="http://schemas.openxmlformats.org/officeDocument/2006/relationships/notesMaster" Target="/ppt/notesMasters/notesMaster1.xml" Id="Rf80a4b76771d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d72ae8e53406d" /><Relationship Type="http://schemas.openxmlformats.org/officeDocument/2006/relationships/notesMaster" Target="/ppt/notesMasters/notesMaster1.xml" Id="R830aacf4af8a47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47aa897a3a407b" /><Relationship Type="http://schemas.openxmlformats.org/officeDocument/2006/relationships/notesMaster" Target="/ppt/notesMasters/notesMaster1.xml" Id="R167c8c6f335546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90bb07c9fd422d" /><Relationship Type="http://schemas.openxmlformats.org/officeDocument/2006/relationships/notesMaster" Target="/ppt/notesMasters/notesMaster1.xml" Id="R760f8cb323f846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d8a7110be242d0" /><Relationship Type="http://schemas.openxmlformats.org/officeDocument/2006/relationships/notesMaster" Target="/ppt/notesMasters/notesMaster1.xml" Id="R8b0664f3a5a444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f096357fef4da7" /><Relationship Type="http://schemas.openxmlformats.org/officeDocument/2006/relationships/notesMaster" Target="/ppt/notesMasters/notesMaster1.xml" Id="R46f8dd48739246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bac77d1faf4318" /><Relationship Type="http://schemas.openxmlformats.org/officeDocument/2006/relationships/notesMaster" Target="/ppt/notesMasters/notesMaster1.xml" Id="Ref37e16c6b134a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35b524ab7c4d54" /><Relationship Type="http://schemas.openxmlformats.org/officeDocument/2006/relationships/notesMaster" Target="/ppt/notesMasters/notesMaster1.xml" Id="R35bda285dadf4b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65c861de944a2b" /><Relationship Type="http://schemas.openxmlformats.org/officeDocument/2006/relationships/notesMaster" Target="/ppt/notesMasters/notesMaster1.xml" Id="Rafc7ada30697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封面插画由 OpenAI ImageGen 生成，用于抽象表达校园课程资料、检索和引用，不代表真实校园或真实使用现场。项目事实以仓库 tag v0.3.1-midterm-demo 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来源：仓库 README.md、docs/intent.md、AGENTS.md。界面截图来自本机 v0.3.1-midterm-demo 后续同代码状态的 Vite 登录页，表单为空，不含 Cookie、账号密码或学生身份。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来源：backend/app/security/deps.py、backend/app/api 下的课程与权限接口、backend/tests/test_auth.py、backend/tests/test_courses.py。演示账户只用于本机，密码保存在本机 .env。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来源：README.md、backend/app/main.py、backend/app/config.py、backend/app/services、frontend/src。架构图为可编辑原生对象。真模型只在 backend 与 key 同时就绪时启用，测试继续使用 Fake。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来源：backend/app/services/ingest.py、parse.py、chunk.py、embedder.py，以及 backend/tests/test_ingest.py。支持范围指文本层解析，不代表图片文字识别。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来源：backend/app/services/retrieve.py、generate.py、backend/app/api/ask.py、backend/tests/test_retrieve.py、test_ask.py。参数是 v0.3.1-midterm-demo 的当前配置。生成后无合法引用的语义缺口来自阶段 17 实测，计划在阶段 22 修正。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项目证据：docs/demo.md 的 2026-09-09 实走记录。公开课件来源：https://ocw.mit.edu/courses/12-010-computational-methods-of-scientific-programming-fall-2024/ 。许可：https://ocw.mit.edu/pages/privacy-and-terms-of-use/ 。本 PPT 只记录少量验证结论，不打包原课件，不表示 MIT 对本项目的认可。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来源：backend/app/models/query_log.py、backend/app/services/insights.py、backend/app/api/insights.py、backend/tests/test_insights.py，以及 docs/demo.md 的删除后实测记录。当前局限已明确披露，没有把实测拒答错误归类为已解决。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来源：docs/midterm-notes.md 与阶段 20 验收。指定 pytest 结果为 33 passed, 1 skipped，Ruff 通过，Vite 构建 1631 个模块。v0.3.0-midterm 指向 4f39ba0，v0.3.1-midterm-demo 指向 5006194。没有推送远端。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来源：docs/plan-4.md。中期汇报只覆盖已经完成的事实。阶段 22 至 25 是计划，不描述为已实现。阶段 18 和 19 分别等待解析错误理解困难、账号密码管理困难的真实反馈。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bef58ede243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3d0a33bcf4ae8" /><Relationship Type="http://schemas.openxmlformats.org/officeDocument/2006/relationships/slideLayout" Target="/ppt/slideLayouts/slideLayout1.xml" Id="Rbe3f42e47f744e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3f42e47f744e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62bb6a48e4980" /><Relationship Type="http://schemas.openxmlformats.org/officeDocument/2006/relationships/image" Target="/ppt/media/image.png" Id="R4d7a2a686e1a4d6d" /><Relationship Type="http://schemas.openxmlformats.org/officeDocument/2006/relationships/notesSlide" Target="/ppt/notesSlides/notesSlide1.xml" Id="R4f9f6f9de0f64e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79e6a32184074" /><Relationship Type="http://schemas.openxmlformats.org/officeDocument/2006/relationships/image" Target="/ppt/media/image2.png" Id="R2427a8ebb9214fab" /><Relationship Type="http://schemas.openxmlformats.org/officeDocument/2006/relationships/notesSlide" Target="/ppt/notesSlides/notesSlide2.xml" Id="R8ceee58c235840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e7b62b9474eeb" /><Relationship Type="http://schemas.openxmlformats.org/officeDocument/2006/relationships/notesSlide" Target="/ppt/notesSlides/notesSlide3.xml" Id="Rc3d590b86e5b4d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e5db946f460c" /><Relationship Type="http://schemas.openxmlformats.org/officeDocument/2006/relationships/notesSlide" Target="/ppt/notesSlides/notesSlide4.xml" Id="R6eef1697dc3a4f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67045c2b14fcf" /><Relationship Type="http://schemas.openxmlformats.org/officeDocument/2006/relationships/notesSlide" Target="/ppt/notesSlides/notesSlide5.xml" Id="R8145edadc23243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fe5d46e80465e" /><Relationship Type="http://schemas.openxmlformats.org/officeDocument/2006/relationships/notesSlide" Target="/ppt/notesSlides/notesSlide6.xml" Id="R67aa37fec21e49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d1547f8184dc7" /><Relationship Type="http://schemas.openxmlformats.org/officeDocument/2006/relationships/notesSlide" Target="/ppt/notesSlides/notesSlide7.xml" Id="R6a00959794bb42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b8777981947b9" /><Relationship Type="http://schemas.openxmlformats.org/officeDocument/2006/relationships/notesSlide" Target="/ppt/notesSlides/notesSlide8.xml" Id="R4050a15f938f42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91e32e884279" /><Relationship Type="http://schemas.openxmlformats.org/officeDocument/2006/relationships/notesSlide" Target="/ppt/notesSlides/notesSlide9.xml" Id="R7549a1a592eb4b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ae45a711948ca" /><Relationship Type="http://schemas.openxmlformats.org/officeDocument/2006/relationships/notesSlide" Target="/ppt/notesSlides/notesSlide10.xml" Id="Rc52cc342f6f949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a2a686e1a4d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5E9AF-7D36-485F-B06E-1F394EF2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C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9C9A8-4EBD-40B3-A044-E9CFE52B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高校课程知识库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智能问答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00138-71A2-49D2-AD0A-F109C54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A6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6BE60-5B36-437C-B543-861A41F7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8F1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F1F6"/>
                </a:solidFill>
                <a:latin typeface="Microsoft YaHei"/>
                <a:ea typeface="Microsoft YaHei"/>
                <a:cs typeface="Microsoft YaHei"/>
              </a:rPr>
              <a:t>个人校园大创</a:t>
            </a:r>
          </a:p>
          <a:p xmlns:a="http://schemas.openxmlformats.org/drawingml/2006/main">
            <a:pPr algn="l">
              <a:defRPr sz="1875" b="0">
                <a:solidFill>
                  <a:srgbClr val="E8F1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8F1F6"/>
                </a:solidFill>
                <a:latin typeface="Microsoft YaHei"/>
                <a:ea typeface="Microsoft YaHei"/>
                <a:cs typeface="Microsoft YaHei"/>
              </a:rPr>
              <a:t>中期进度检查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FB5AE-A0BA-49C1-A8C8-3268930A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6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7D6E1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503317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C3D76-CC66-45DD-8BC3-76FBF727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F1D91-577B-48B6-B44C-1E1A87F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项目问题与边界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F66B5-BEC7-4797-9317-564858E0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学生需要定位课内依据，教师需要看到集中出现的疑问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6AACC-9869-49C1-A722-00AFDE6F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1266E-29B7-42DF-9A5F-424D70E6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76A83-50BD-44DF-B028-2128178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课件散落在多个文件中，学生往往知道问题，却难以快速找到老师讲过的原文位置。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AC6A5-3C94-4B58-8835-740D24A3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本项目把课程资料按课程隔离入库，让回答携带文件名、页码或切片位置。没有足够依据时，系统明确拒答。</a:t>
            </a:r>
          </a:p>
        </p:txBody>
      </p:sp>
      <p:sp>
        <p:nvSpPr>
          <p:cNvPr id="8" name="label-本机可演示原型">
            <a:extLst xmlns:a="http://schemas.openxmlformats.org/drawingml/2006/main">
              <a:ext uri="{FF2B5EF4-FFF2-40B4-BE49-F238E27FC236}">
                <a16:creationId xmlns:a16="http://schemas.microsoft.com/office/drawing/2014/main" id="{B735A0C0-F0A5-4EF2-AD7A-F9A3EB00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1F1E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5AA2D-1EA2-43D8-BDAC-AF35CC4B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rPr>
              <a:t>本机可演示原型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0E555-BB44-4F8A-885F-457F6033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当前不宣称校园网生产部署，也不包含 OCR、成绩预测或自动出卷。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A411D-3D85-4BC2-8C23-4BB68E63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192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7a8ebb9214fab"/>
          <a:stretch xmlns:a="http://schemas.openxmlformats.org/drawingml/2006/main"/>
        </p:blipFill>
        <p:spPr>
          <a:xfrm xmlns:a="http://schemas.openxmlformats.org/drawingml/2006/main">
            <a:off x="6479046" y="1752600"/>
            <a:ext cx="4339308" cy="30670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DE2E3-F3C0-46C7-91C0-24C3A65D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24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真实界面入口：登录页不展示账号密码，课程内容必须通过会话权限访问。</a:t>
            </a:r>
          </a:p>
        </p:txBody>
      </p:sp>
    </p:spTree>
    <p:extLst>
      <p:ext uri="{BB962C8B-B14F-4D97-AF65-F5344CB8AC3E}">
        <p14:creationId xmlns:p14="http://schemas.microsoft.com/office/powerpoint/2010/main" val="2063935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E0010-CC4A-4467-BC60-2EA16F21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78896-2ACF-4956-BDE1-7907575E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三类角色与课程权限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1C07F-4D62-4FDB-9714-D8FA3C57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角色决定可用功能，课程成员关系决定可访问的数据范围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96D2A-8EDF-4A5E-8884-FE47838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747CC-393D-4AE6-9671-55F1D613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12A4F-A351-42AF-BB56-8022563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FD097-0ACF-4373-97B4-DC254C1F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09875"/>
            <a:ext cx="2343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课程边界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B59BB-A222-4CB3-9D9D-3E6D58D5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4288">
            <a:solidFill>
              <a:srgbClr val="F2A6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6D1B1-7B5C-420F-8D06-44F62C72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2152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创建用户与课程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1C729-3A34-47D0-BCCA-F04659E2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13B29-C6B8-454B-8E99-0E7B9B2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52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管理本课资料与成员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查看本课学情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458DF-B458-494F-9A03-6D62F601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078B6-C789-4595-AF6A-0235AE01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2152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学生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进入已加入课程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提问并查看引用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05150" y="2357438"/>
            <a:ext cx="1704975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2A65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05150" y="3286125"/>
            <a:ext cx="1704975" cy="1428750"/>
          </a:xfrm>
          <a:prstGeom xmlns:a="http://schemas.openxmlformats.org/drawingml/2006/main" prst="bentConnector3">
            <a:avLst>
              <a:gd name="adj1" fmla="val 13408"/>
            </a:avLst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381875" y="3286125"/>
            <a:ext cx="1704975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125A5-4FA2-418B-8904-1F11CE6D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2435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HTTP-only Cookie 保存 session_id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F6B41-569C-40ED-9C49-CC685360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5300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后端逐请求校验身份、角色和课程成员关系。测试覆盖未登录、越权访问与跨课程隔离。</a:t>
            </a:r>
          </a:p>
        </p:txBody>
      </p:sp>
    </p:spTree>
    <p:extLst>
      <p:ext uri="{BB962C8B-B14F-4D97-AF65-F5344CB8AC3E}">
        <p14:creationId xmlns:p14="http://schemas.microsoft.com/office/powerpoint/2010/main" val="1066833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61F9A-B1CB-4FC4-8F28-588E2D6B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5121D-CF5C-4919-AE43-D3563AF8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CDE44-7197-4D7E-B270-69DA4E99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Vue 负责交互，FastAPI 统一执行权限、入库、检索和生成流程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58ACE-62C3-42A0-A7E8-D84C1158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FB380-FB58-4D09-A39B-CFC3B94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84553-ABA3-47F1-AB43-42FBE1F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27D37-09F6-4383-B29A-D1D9C60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浏览器</a:t>
            </a:r>
          </a:p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Vue 3 +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4C20F-0FA1-4057-8A23-3551513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CFD96-A12D-4DCE-8F81-9218AE1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Cookie 会话与课程权限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F6399-8253-4EC5-B6A3-4665A8C2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6A92F-F71B-4D24-A4D0-92BD6FFC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资料入库服务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解析、切分、向量化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50F78-9535-47BF-8EE1-C43F2FF9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4288">
            <a:solidFill>
              <a:srgbClr val="F2A6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4EEE5-192A-4D6F-AEE0-10D4EE7C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课程问答服务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检索、生成、引用过滤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48587-4933-4A09-940C-A92EBF60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ED522-5CDA-4EC1-AB25-6CCCA33A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62125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23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PostgreSQL + pgvector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用户、课程、切片、日志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027B4-D570-415B-AE51-2465F78D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095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A6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078A4-77B6-4843-A654-54D20ED6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71875"/>
            <a:ext cx="1866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本机可选真模型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SiliconFlow BGE-M3</a:t>
            </a:r>
          </a:p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DeepSeek v4-flash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905500" y="2238375"/>
            <a:ext cx="8572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05500" y="3095625"/>
            <a:ext cx="857250" cy="952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2A65A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58250" y="2238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858250" y="2238375"/>
            <a:ext cx="666750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58250" y="4048125"/>
            <a:ext cx="666750" cy="7143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A65A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3856F-64C5-4FEB-A09D-4F7FA7A6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97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rPr>
              <a:t>pytest 固定使用 FakeEmbedder 与 FakeLLM，不依赖云 key。</a:t>
            </a:r>
          </a:p>
        </p:txBody>
      </p:sp>
    </p:spTree>
    <p:extLst>
      <p:ext uri="{BB962C8B-B14F-4D97-AF65-F5344CB8AC3E}">
        <p14:creationId xmlns:p14="http://schemas.microsoft.com/office/powerpoint/2010/main" val="1435538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287D2B-8688-4F19-91A9-F2A903C2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228A8-30DC-4392-90C1-6AD92FFF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资料入库流程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DD436-184A-4F56-9924-5476193F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文本层课件经过校验、解析、切分和向量化后进入课程索引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8C5E2-B536-473F-91E7-03028EC7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A48D7-26E3-4C7D-BACF-2F2F6E42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118AE-1C28-49A7-9C0A-164D6A6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1F9D0-AAB7-4A0B-BD51-EF82423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4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6B28B-2FA4-4AFE-B0FD-ADFD2DA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905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5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ABE75-0159-4A05-B5B1-D109DD1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上传与类型校验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ED3A0-688C-4795-B9D0-2AA5EC85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4D0D3-4C6B-4978-852B-2249A857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4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59B4F-3078-40E6-AD47-EFE370DF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905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5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E2EBC-29A7-4DDF-9B78-9BF67F5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提取文本与页码</a:t>
            </a:r>
          </a:p>
        </p:txBody>
      </p: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457450" y="30384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5CF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EBB92-9C0B-4929-B9F7-749FC67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A1E0B-68D4-4BD4-AEBF-2B20814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47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4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95C12-C5F9-4CC3-96B7-7C8618BB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71750"/>
            <a:ext cx="1905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5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1AF79-2CA7-440E-A674-7CD6CE28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6700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按段落切分</a:t>
            </a:r>
          </a:p>
        </p:txBody>
      </p: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81550" y="30384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5C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9DA09-3014-4B46-AE8D-EDDA405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42B7D-24F5-475B-B5EC-BB35F52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4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A0E74-5D57-4E82-95DA-EBC0E034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1905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5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4577B-C4A6-4CB7-B72D-4F07C918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6700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 1024 维向量</a:t>
            </a:r>
          </a:p>
        </p:txBody>
      </p: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105650" y="30384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5CF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247B5-68D4-4C3B-8034-C9E0D16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646BB3-A7F9-4F6A-A4BD-B4996EE2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847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4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1E9AA-2716-46C9-BD26-29B406EE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71750"/>
            <a:ext cx="1905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A6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BB1BE-C006-41A2-A0BA-CDAC1FC2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6700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写入课程切片</a:t>
            </a:r>
          </a:p>
        </p:txBody>
      </p:sp>
      <p:cxnSp>
        <p:nvCxnSpPr>
          <p:cNvPr id="62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29750" y="30384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5CF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3F2BE9-6CBE-4E4E-84A0-1B069DCD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已支持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0E591E-115D-44F0-94D8-64358401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95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PDF、Markdown、纯文本、PPT/PPTX、Word 文本层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A84CFE-9AF3-4B0A-AF42-3874C0F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572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E5E3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42DB93-0890-47D1-ABD3-3E91A04F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815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解析失败会写入失败状态，不会静默当作成功。扫描件和纯图片页目前没有 OCR。</a:t>
            </a:r>
          </a:p>
        </p:txBody>
      </p:sp>
    </p:spTree>
    <p:extLst>
      <p:ext uri="{BB962C8B-B14F-4D97-AF65-F5344CB8AC3E}">
        <p14:creationId xmlns:p14="http://schemas.microsoft.com/office/powerpoint/2010/main" val="834642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9A0E8-A793-4C3B-964C-39A6CCE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4894D-39E7-4521-A987-73375FBD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问答与引用流程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06A83-B6D5-488B-B98E-586E83CA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检索限定课程范围，回答中的引用还要经过白名单过滤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79BE2-FD1F-48F5-823B-B341EDCC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13816-E3A8-4C41-9830-87E36F93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8D041-E8F3-4ACC-864F-1F664CD0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52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07284-D35C-48BA-9D9C-38B5C7A3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学生问题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226D6A-E301-4F90-A9E0-C613F3FC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85A2E-8403-44D5-9FD2-977F5B8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7240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课程内向量检索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top-k =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31925-0051-4397-938A-49625539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95500"/>
            <a:ext cx="1952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6C70F-65CA-4074-AA0F-768B47DB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90750"/>
            <a:ext cx="17240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相关度门槛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min_score = 0.15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1D20C-C2E1-4161-AF6E-59F8132A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4288">
            <a:solidFill>
              <a:srgbClr val="F2A6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D126C-8262-484A-8505-86F875AD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1485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生成答案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引用候选切片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F29C7-D5B2-41D4-A248-92305F64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14287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50413-D801-435B-BFCE-369A106F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答案 + 合法引用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14550" y="26670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33925" y="26670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334250" y="26670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A65A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96450" y="2667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2A65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75695-0213-4D85-98B5-AEF71779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48125"/>
            <a:ext cx="285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7E5E3"/>
          </a:solidFill>
          <a:ln xmlns:a="http://schemas.openxmlformats.org/drawingml/2006/main" w="14288">
            <a:solidFill>
              <a:srgbClr val="B85C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92C334-C36A-4CA9-A75F-65DD80CA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43375"/>
            <a:ext cx="2628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检索为空</a:t>
            </a:r>
          </a:p>
          <a:p xmlns:a="http://schemas.openxmlformats.org/drawingml/2006/main">
            <a:pPr algn="ctr">
              <a:def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直接返回 NO_EVIDENCE</a:t>
            </a:r>
          </a:p>
          <a:p xmlns:a="http://schemas.openxmlformats.org/drawingml/2006/main">
            <a:pPr algn="ctr">
              <a:def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不调用 LLM</a:t>
            </a:r>
          </a:p>
        </p:txBody>
      </p:sp>
      <p:cxnSp>
        <p:nvCxnSpPr>
          <p:cNvPr id="46" name=""/>
          <p:cNvCxnSpPr>
            <a:stCxn xmlns:a="http://schemas.openxmlformats.org/drawingml/2006/main" id="10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357938" y="3238500"/>
            <a:ext cx="23813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B85C5C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991CA-4C3C-4BD3-A202-54607F7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当前已知限制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004EC-B9C5-4AC5-B0FC-907274B6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生成层没有留下合法引用时，尚未统一归入 NO_EVIDENCE。阶段 22 将修正这项语义。</a:t>
            </a:r>
          </a:p>
        </p:txBody>
      </p:sp>
    </p:spTree>
    <p:extLst>
      <p:ext uri="{BB962C8B-B14F-4D97-AF65-F5344CB8AC3E}">
        <p14:creationId xmlns:p14="http://schemas.microsoft.com/office/powerpoint/2010/main" val="1927725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F9ED9-F519-4399-AA50-AB5831DC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37753-E4A9-4121-A6F0-FFA56DD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真实课件与真模型验证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7EFC0-B8A8-425F-8FEA-CC9B9F02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MIT OCW 两份文本型课件完成上传、中文提问、引用、学情与删除后复问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5B5C7-1785-41E3-A0B0-FA913C37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70859-DD2F-4AF2-A54A-47CB8F4A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9C8CC-2B48-4E16-94DC-48ADDF40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E7F68-FEE3-4CA3-9BD6-9B5E47FC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Lecture 1 PDF</a:t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8 页，约 4.3k 字符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DFED6-3404-40A6-895E-D788480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66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Lecture 22 PPTX</a:t>
            </a:r>
          </a:p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29 页，约 10.3k 字符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20E42-0CEB-42EC-99B1-68A3B8A1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8CF81-5437-464F-B224-C3D8560D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737CE-EF33-4EFB-BE9E-0F84384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295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9227A-C0F0-4B00-BF50-D84722D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中文询问编程环境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回答 Jupyter Notebooks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 PDF 第 6 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E9901-17B3-4F5B-8066-2308770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3143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14288">
            <a:solidFill>
              <a:srgbClr val="F2A6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3250A-D539-43BA-A56D-63F06FF6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286000"/>
            <a:ext cx="2914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中文询问 Pull Request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引用 PPTX 第 15、16 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AB0B6-841D-4384-9C99-6CC159A0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333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5C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4D7D4-AA70-404A-9708-D44958E1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3105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删除 Lecture 22 后复问</a:t>
            </a:r>
          </a:p>
          <a:p xmlns:a="http://schemas.openxmlformats.org/drawingml/2006/main">
            <a:pPr algn="ctr">
              <a:def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页面不再显示引用</a:t>
            </a:r>
          </a:p>
          <a:p xmlns:a="http://schemas.openxmlformats.org/drawingml/2006/main">
            <a:pPr algn="ctr">
              <a:def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生成层明确表示课件未提及</a:t>
            </a:r>
          </a:p>
        </p:txBody>
      </p:sp>
      <p:cxnSp>
        <p:nvCxnSpPr>
          <p:cNvPr id="36" name=""/>
          <p:cNvCxnSpPr>
            <a:stCxn xmlns:a="http://schemas.openxmlformats.org/drawingml/2006/main" id="13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>
            <a:off x="9144000" y="3381375"/>
            <a:ext cx="228600" cy="1119188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B85C5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95D8C-B667-44B4-8DE9-FD3E584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模型：SiliconFlow BGE-M3 向量，DeepSeek v4-flash 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6FFF6-E9D7-449D-9672-9049AA97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资料来源：MIT OpenCourseWare 12.010, Fall 2024。课程资料采用 CC BY-NC-SA 4.0。</a:t>
            </a:r>
          </a:p>
        </p:txBody>
      </p:sp>
    </p:spTree>
    <p:extLst>
      <p:ext uri="{BB962C8B-B14F-4D97-AF65-F5344CB8AC3E}">
        <p14:creationId xmlns:p14="http://schemas.microsoft.com/office/powerpoint/2010/main" val="653618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1CD45-C065-48CF-BC15-E3357B17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B3453-BEC6-4E9A-9BFA-87CD6DB6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教师学情与隐私边界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73715-FA99-4256-A20C-E0A2C6A2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系统汇总本课学生问题，不向教师展示提问者身份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9164D-FE50-4FE0-9A84-B4530334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2C916-DC7A-429F-8913-54B5D714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2A95F-67B0-4090-B471-CC12FCDD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7EDCC-0B3A-4A21-B090-088712B1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本课学生问题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991B8-EF8C-4D0B-8F61-250EF0D6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213CA-F801-4AC1-A748-CF76D2F5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28875"/>
            <a:ext cx="2152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QueryLog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课程、问句、命中状态、时间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01470-95E0-45FB-91D5-48EC954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14288">
            <a:solidFill>
              <a:srgbClr val="2F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E9F13-9E7E-4C7D-8EF6-936FA0D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05000"/>
            <a:ext cx="2152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高频问句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命中问题与次数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B9A22-316C-43B2-9B78-920346C0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E5E3"/>
          </a:solidFill>
          <a:ln xmlns:a="http://schemas.openxmlformats.org/drawingml/2006/main" w="14288">
            <a:solidFill>
              <a:srgbClr val="B85C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E55C4-E364-4FE3-9B39-8D304E2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2152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未命中 / 拒答</a:t>
            </a:r>
          </a:p>
          <a:p xmlns:a="http://schemas.openxmlformats.org/drawingml/2006/main">
            <a:pPr algn="ctr">
              <a:defRPr sz="150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NO_EVIDENCE 问题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43200" y="3000375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6096000" y="2357438"/>
            <a:ext cx="1238250" cy="642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2F7E7A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96000" y="3000375"/>
            <a:ext cx="1238250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B85C5C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A7869-21ED-4F62-BE71-8E6CFB19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431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rPr>
              <a:t>教师看到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74D46-AF93-4F83-B23D-1C12CC4A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43175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规范化问句</a:t>
            </a:r>
          </a:p>
          <a:p xmlns:a="http://schemas.openxmlformats.org/drawingml/2006/main">
            <a:pPr algn="ctr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次数</a:t>
            </a:r>
          </a:p>
          <a:p xmlns:a="http://schemas.openxmlformats.org/drawingml/2006/main">
            <a:pPr algn="ctr">
              <a:def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必要时间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AA32D-CC39-4D8C-9731-75BC14D5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195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教师看不到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18EF2-2751-447C-80A1-00948B8C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38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5C5C"/>
                </a:solidFill>
                <a:latin typeface="Microsoft YaHei"/>
                <a:ea typeface="Microsoft YaHei"/>
                <a:cs typeface="Microsoft YaHei"/>
              </a:rPr>
              <a:t>学生身份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629DED-911F-469D-BD24-675912A7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8972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8E2AD-7329-4A3A-9E49-F840CCE3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3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实测发现：检索 hit=True 但生成层最终拒答时，当前学情仍可能归入高频命中。阶段 22 将按最终引用结果修正。</a:t>
            </a:r>
          </a:p>
        </p:txBody>
      </p:sp>
    </p:spTree>
    <p:extLst>
      <p:ext uri="{BB962C8B-B14F-4D97-AF65-F5344CB8AC3E}">
        <p14:creationId xmlns:p14="http://schemas.microsoft.com/office/powerpoint/2010/main" val="2038726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B5C101-0192-4B4F-9394-3029DB7B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EE862-DCF1-474A-B076-1697DC02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发布门禁与汇报版本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4FAD-EBD5-4E2A-9B77-DC49EAB0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真演示汇报版通过固定回归，并与后续开发隔离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0BB1E-B74B-4D57-8D71-E54FD139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61DA3-3481-400D-A04A-E5DBFBB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DEE13-7501-4CCF-AA01-AD8CC213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171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39BE3-5AFA-45D2-B695-B796C91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2075D-A3C1-40D6-B621-899C901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1 个可选云集成测试因无 key 跳过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7E3FC-E45D-4977-B8E8-C3447468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10" name="label-Ruff 通过">
            <a:extLst xmlns:a="http://schemas.openxmlformats.org/drawingml/2006/main">
              <a:ext uri="{FF2B5EF4-FFF2-40B4-BE49-F238E27FC236}">
                <a16:creationId xmlns:a16="http://schemas.microsoft.com/office/drawing/2014/main" id="{D36BFFF5-3326-4595-8A4A-D62C232B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57375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1F1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2D390-B1C4-4997-8CCC-E925E29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85950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rPr>
              <a:t>Ruff 通过</a:t>
            </a:r>
          </a:p>
        </p:txBody>
      </p:sp>
      <p:sp>
        <p:nvSpPr>
          <p:cNvPr id="12" name="label-前端构建通过">
            <a:extLst xmlns:a="http://schemas.openxmlformats.org/drawingml/2006/main">
              <a:ext uri="{FF2B5EF4-FFF2-40B4-BE49-F238E27FC236}">
                <a16:creationId xmlns:a16="http://schemas.microsoft.com/office/drawing/2014/main" id="{3F4F2D59-BD24-4B9C-98B0-3966DB35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1952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1F1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0E255-C1F9-450B-9F0C-F9A8DF86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rPr>
              <a:t>前端构建通过</a:t>
            </a:r>
          </a:p>
        </p:txBody>
      </p:sp>
      <p:sp>
        <p:nvSpPr>
          <p:cNvPr id="14" name="label-1631 modules">
            <a:extLst xmlns:a="http://schemas.openxmlformats.org/drawingml/2006/main">
              <a:ext uri="{FF2B5EF4-FFF2-40B4-BE49-F238E27FC236}">
                <a16:creationId xmlns:a16="http://schemas.microsoft.com/office/drawing/2014/main" id="{98A1C25D-A985-4818-83F7-2BAA4724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57375"/>
            <a:ext cx="1952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F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A09C1-8B8A-4ADA-8326-BDCDC71B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1631 modules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29962-BB69-430D-8B23-59D1777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前端主 JS 包约 1.05 MB，当前记录为非阻断警告。只有真实加载速度成为问题时才拆包。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42EDD-24B5-48DF-B3D5-A57CF21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57625"/>
            <a:ext cx="238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C5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ECB13-FCB0-4CF4-A01E-D1CEF3A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52875"/>
            <a:ext cx="2152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v0.3.0-midterm</a:t>
            </a:r>
          </a:p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原始中期基线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7F2E7-9BD1-45D7-A27F-F684BF1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62375"/>
            <a:ext cx="295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5A455-84BF-41FF-9649-C0A7FFFB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57625"/>
            <a:ext cx="2724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v0.3.1-midterm-demo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真课件试用与门禁记录</a:t>
            </a:r>
          </a:p>
        </p:txBody>
      </p:sp>
      <p:cxnSp>
        <p:nvCxnSpPr>
          <p:cNvPr id="43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286500" y="4357688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A65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E0677-F94F-4876-B732-9AFF3DE2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rPr>
              <a:t>两个注释 tag 均不包含 .env、真课件、上传数据或本地数据库。</a:t>
            </a:r>
          </a:p>
        </p:txBody>
      </p:sp>
    </p:spTree>
    <p:extLst>
      <p:ext uri="{BB962C8B-B14F-4D97-AF65-F5344CB8AC3E}">
        <p14:creationId xmlns:p14="http://schemas.microsoft.com/office/powerpoint/2010/main" val="1608814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32378-712A-4DD6-B00C-E79E178E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9E752-A503-4F84-AC88-E7B2C151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中期结论与下一步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236AA-77D5-47B0-B7E8-5EB8E30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107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7"/>
                </a:solidFill>
                <a:latin typeface="Microsoft YaHei"/>
                <a:ea typeface="Microsoft YaHei"/>
                <a:cs typeface="Microsoft YaHei"/>
              </a:rPr>
              <a:t>核心闭环已经可演示，后续工作围绕回答可信度与可验证性展开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6EEC6-B95D-489B-B969-F88F2B85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E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B1A74-C47A-4637-85FF-94749B09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D0E36-9904-46DC-BBD2-7164351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7A5E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1E236-5B26-4163-8952-63D71BE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095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登录与三角色权限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多格式课件入库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按课程检索与引用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教师学情与删除后复问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真课件、真向量、真生成实走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F1624-BEE0-43AB-BBB9-5B43E831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5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03CE6-3506-40CC-A5E7-FDAD7DA1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第四期后续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6F61A-BAA9-4F66-8681-747BC544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98859-5377-4DB1-AADE-8CCD6443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98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9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486C6-98A0-4434-AEBA-7A1802EF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717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有合法引用才算可靠回答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66166-5562-4188-A44B-1EE688E6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76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359EE-78EF-46EB-B298-D932EF4F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527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9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1829D-829F-47AC-AB17-DBF7B382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区分 Fake 与云向量索引身份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F0B98-9ED0-46D0-B051-DC8BF8D2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9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5225C-D2AD-48EA-B7D9-AA3DC6B7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8957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9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28E20-04D4-4C22-9256-8E64C9EC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独立真模型评测与阈值校准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9BC51-6690-443E-9589-43934E52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624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E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088D8-1FBB-4349-B5F4-FFEB28E5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386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99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0B293-CA73-44C3-8677-8BC511E8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非开发者试用与反馈收口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729F0-6AB1-4B18-A71A-3512BD64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19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EE2B8-A30C-4498-90BB-113A1B5B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29275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 18、19 继续等待真实反馈触发。OCR 与校园网正式部署不在当前主线。</a:t>
            </a:r>
          </a:p>
        </p:txBody>
      </p:sp>
    </p:spTree>
    <p:extLst>
      <p:ext uri="{BB962C8B-B14F-4D97-AF65-F5344CB8AC3E}">
        <p14:creationId xmlns:p14="http://schemas.microsoft.com/office/powerpoint/2010/main" val="365574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2026-09-09T07:31:47.6230000Z</dcterms:created>
  <dcterms:modified xsi:type="dcterms:W3CDTF">2026-09-09T07:31:47.6240000Z</dcterms:modified>
</coreProperties>
</file>